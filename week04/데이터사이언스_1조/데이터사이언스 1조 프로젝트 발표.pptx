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8B8DD59C-77D9-59E9-CA05-4E1F3C5A87BA}">
          <p14:sldIdLst>
            <p14:sldId id="256"/>
          </p14:sldIdLst>
        </p14:section>
        <p14:section name="본문" id="{2BCB55B2-62E3-2ADA-743D-7EBE5ECF3E34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3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우리 패치</c:v>
                </c:pt>
              </c:strCache>
            </c:strRef>
          </c:tx>
          <c:spPr>
            <a:ln w="38100" cap="flat">
              <a:solidFill>
                <a:srgbClr val="B3261E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B3261E"/>
              </a:solidFill>
              <a:ln w="9525" cap="flat">
                <a:solidFill>
                  <a:srgbClr val="B3261E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2%</c:v>
                </c:pt>
                <c:pt idx="1">
                  <c:v>4%</c:v>
                </c:pt>
                <c:pt idx="2">
                  <c:v>6%</c:v>
                </c:pt>
                <c:pt idx="3">
                  <c:v>8%</c:v>
                </c:pt>
                <c:pt idx="4">
                  <c:v>10%</c:v>
                </c:pt>
                <c:pt idx="5">
                  <c:v>12.5%</c:v>
                </c:pt>
                <c:pt idx="6">
                  <c:v>15%</c:v>
                </c:pt>
                <c:pt idx="7">
                  <c:v>17.5%</c:v>
                </c:pt>
                <c:pt idx="8">
                  <c:v>20%</c:v>
                </c:pt>
                <c:pt idx="9">
                  <c:v>25%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0.7</c:v>
                </c:pt>
                <c:pt idx="3">
                  <c:v>51.5</c:v>
                </c:pt>
                <c:pt idx="4">
                  <c:v>90.4</c:v>
                </c:pt>
                <c:pt idx="5">
                  <c:v>97.5</c:v>
                </c:pt>
                <c:pt idx="6">
                  <c:v>99.1</c:v>
                </c:pt>
                <c:pt idx="7">
                  <c:v>99.4</c:v>
                </c:pt>
                <c:pt idx="8">
                  <c:v>99.6</c:v>
                </c:pt>
                <c:pt idx="9">
                  <c:v>99.8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325-4FE4-809C-275B91242A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5F6670"/>
                    </a:solidFill>
                    <a:latin typeface="Arial"/>
                  </a:defRPr>
                </a:pPr>
                <a:r>
                  <a:rPr lang="ko-KR" altLang="en-US" sz="1300" b="0" i="0" u="none" strike="noStrike">
                    <a:solidFill>
                      <a:srgbClr val="5F6670"/>
                    </a:solidFill>
                    <a:latin typeface="Arial"/>
                  </a:rPr>
                  <a:t>패치 면적 </a:t>
                </a:r>
                <a:r>
                  <a:rPr lang="en-US" altLang="ko-KR" sz="1300" b="0" i="0" u="none" strike="noStrike">
                    <a:solidFill>
                      <a:srgbClr val="5F6670"/>
                    </a:solidFill>
                    <a:latin typeface="Arial"/>
                  </a:rPr>
                  <a:t>(</a:t>
                </a:r>
                <a:r>
                  <a:rPr lang="ko-KR" altLang="en-US" sz="1300" b="0" i="0" u="none" strike="noStrike">
                    <a:solidFill>
                      <a:srgbClr val="5F6670"/>
                    </a:solidFill>
                    <a:latin typeface="Arial"/>
                  </a:rPr>
                  <a:t>사진 대비</a:t>
                </a:r>
                <a:r>
                  <a:rPr lang="en-US" altLang="ko-KR" sz="1300" b="0" i="0" u="none" strike="noStrike">
                    <a:solidFill>
                      <a:srgbClr val="5F6670"/>
                    </a:solidFill>
                    <a:latin typeface="Arial"/>
                  </a:rPr>
                  <a:t>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F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3E6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0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우리 패치</c:v>
                </c:pt>
              </c:strCache>
            </c:strRef>
          </c:tx>
          <c:spPr>
            <a:solidFill>
              <a:srgbClr val="B3261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A3B-4ACA-ACF0-F81A3FE928E9}"/>
              </c:ext>
            </c:extLst>
          </c:dPt>
          <c:dPt>
            <c:idx val="1"/>
            <c:invertIfNegative val="0"/>
            <c:bubble3D val="0"/>
            <c:spPr>
              <a:solidFill>
                <a:srgbClr val="C9CE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A3B-4ACA-ACF0-F81A3FE928E9}"/>
              </c:ext>
            </c:extLst>
          </c:dPt>
          <c:dPt>
            <c:idx val="2"/>
            <c:invertIfNegative val="0"/>
            <c:bubble3D val="0"/>
            <c:spPr>
              <a:solidFill>
                <a:srgbClr val="C9CE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A3B-4ACA-ACF0-F81A3FE928E9}"/>
              </c:ext>
            </c:extLst>
          </c:dPt>
          <c:dPt>
            <c:idx val="3"/>
            <c:invertIfNegative val="0"/>
            <c:bubble3D val="0"/>
            <c:spPr>
              <a:solidFill>
                <a:srgbClr val="C9CE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A3B-4ACA-ACF0-F81A3FE928E9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F2328"/>
                    </a:solidFill>
                    <a:latin typeface="+mn-l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ResNet-50
(학습 대상)</c:v>
                </c:pt>
                <c:pt idx="1">
                  <c:v>VGG-16</c:v>
                </c:pt>
                <c:pt idx="2">
                  <c:v>MobileNet-V2</c:v>
                </c:pt>
                <c:pt idx="3">
                  <c:v>DenseNet-121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98.6</c:v>
                </c:pt>
                <c:pt idx="1">
                  <c:v>0</c:v>
                </c:pt>
                <c:pt idx="2">
                  <c:v>5.0999999999999996</c:v>
                </c:pt>
                <c:pt idx="3">
                  <c:v>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A3B-4ACA-ACF0-F81A3FE928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F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3E6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0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6894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단계는 인쇄나 YOLO 전에, 디지털 환경에서 공격이 실제로 통하는지만 확인합니다. 타깃은 ImageNet 954번 banana 클래스입니다.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Brown et al. 2017 방식입니다. 무작위 변형(EOT): 면적 10~20%, 회전 ±45°, 위치 무작위, 밝기 0.75~1.25배. Loss는 -log p(banana)에 패치를 매끄럽게 하는 TV loss를 더했습니다. 배경 이미지는 Imagenette(ImageNet 10개 클래스, banana 없음) 학습용 9,469장. Adam lr 0.02, 배치 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RTX 4060 Ti에서 1,500 스텝 학습. 학습 배치 기준 banana 판정률 99.4%, 최종 loss 0.09. 약 300 스텝 만에 90%를 넘었습니다.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학습에 쓰지 않은 Imagenette val 이미지 1,000장. 패치 면적 10~20%, 회전 ±45°, 위치·밝기 무작위. banana 평균 확률 0.92.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 범위(10~20%) 안에서는 90% 이상, 8%에서 51.5%로 급격히 떨어집니다. 인쇄할 때 카메라 화면의 10% 이상을 차지하도록 크게 들어야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모델 모두 패치 없음·노이즈 패치는 0%. 우리 패치는 MobileNet-V2 5.1%, DenseNet-121 3.8%, VGG-16 0%. 기획 단계의 '대리 모델 하나로 다른 모델도 속인다'는 가정은 이번 설정에서는 확인되지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전이성: ResNet-50, VGG-16, MobileNet-V2 등 여러 모델의 loss를 합쳐 학습(앙상블). YOLO: objectness loss로 사람 박스 제거 (Thys et al. 2019). 인쇄: NPS로 인쇄 가능한 색만 사용. 코드: github.com/kimknifestring/cow_patch_project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011680"/>
            <a:ext cx="11091672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b="1" dirty="0">
                <a:solidFill>
                  <a:schemeClr val="accent5"/>
                </a:solidFill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37744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291840"/>
            <a:ext cx="1109167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548640" y="4114800"/>
            <a:ext cx="8229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accent3"/>
                </a:solidFill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0040"/>
            <a:ext cx="1828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0116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400" b="1" dirty="0" err="1">
                <a:solidFill>
                  <a:schemeClr val="accent5"/>
                </a:solidFill>
              </a:rPr>
              <a:t>데이터사이언스</a:t>
            </a:r>
            <a:r>
              <a:rPr lang="en-US" sz="1400" b="1">
                <a:solidFill>
                  <a:schemeClr val="accent5"/>
                </a:solidFill>
              </a:rPr>
              <a:t> 1조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3774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ResNet-50을 바나나로 속이는 패치</a:t>
            </a: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2918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800" dirty="0" err="1">
                <a:solidFill>
                  <a:schemeClr val="accent4"/>
                </a:solidFill>
              </a:rPr>
              <a:t>검증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02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목표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어떤 사진에 붙여도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AI가 "바나나"라고 답하는 패치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공격 대상: ImageNet으로 학습된 ResNet-50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63840" y="2377440"/>
            <a:ext cx="3776472" cy="246888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13816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성공 기준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31089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80%+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4114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처음 보는 사진에서 banana 판정 비율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어떻게 만들었나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377440" cy="201168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2514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노이즈 패치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089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무작위 색으로 시작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017520" y="3108960"/>
            <a:ext cx="344424" cy="0"/>
          </a:xfrm>
          <a:prstGeom prst="line">
            <a:avLst/>
          </a:prstGeom>
          <a:noFill/>
          <a:ln w="19050">
            <a:solidFill>
              <a:srgbClr val="8A909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453384" y="2103120"/>
            <a:ext cx="2377440" cy="201168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636264" y="2514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무작위로 붙이기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36264" y="31089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크기·각도·위치·밝기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매번 다르게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22264" y="3108960"/>
            <a:ext cx="344424" cy="0"/>
          </a:xfrm>
          <a:prstGeom prst="line">
            <a:avLst/>
          </a:prstGeom>
          <a:noFill/>
          <a:ln w="19050">
            <a:solidFill>
              <a:srgbClr val="8A909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358128" y="2103120"/>
            <a:ext cx="2377440" cy="201168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541008" y="2514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ResNet-50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541008" y="31089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모델은 그대로 두고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827008" y="3108960"/>
            <a:ext cx="344424" cy="0"/>
          </a:xfrm>
          <a:prstGeom prst="line">
            <a:avLst/>
          </a:prstGeom>
          <a:noFill/>
          <a:ln w="19050">
            <a:solidFill>
              <a:srgbClr val="8A909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262872" y="2103120"/>
            <a:ext cx="2377440" cy="201168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9445752" y="2514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패치만 수정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445752" y="31089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banana 확률이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오르는 방향으로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480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</a:rPr>
              <a:t>1500 step </a:t>
            </a:r>
            <a:r>
              <a:rPr lang="ko-KR" altLang="en-US" sz="1800" dirty="0">
                <a:solidFill>
                  <a:schemeClr val="tx1"/>
                </a:solidFill>
              </a:rPr>
              <a:t>반복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04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학습된 패치</a:t>
            </a:r>
            <a:endParaRPr lang="en-US" sz="2800" dirty="0"/>
          </a:p>
        </p:txBody>
      </p:sp>
      <p:pic>
        <p:nvPicPr>
          <p:cNvPr id="4" name="Image 0" descr="시작 패치: 무작위 노이즈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476" y="1554480"/>
            <a:ext cx="3840480" cy="3840480"/>
          </a:xfrm>
          <a:prstGeom prst="rect">
            <a:avLst/>
          </a:prstGeom>
        </p:spPr>
      </p:pic>
      <p:pic>
        <p:nvPicPr>
          <p:cNvPr id="5" name="Image 1" descr="학습된 banana 패치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996" y="1554480"/>
            <a:ext cx="3840480" cy="38404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637276" y="3474720"/>
            <a:ext cx="914400" cy="0"/>
          </a:xfrm>
          <a:prstGeom prst="line">
            <a:avLst/>
          </a:prstGeom>
          <a:noFill/>
          <a:ln w="25400">
            <a:solidFill>
              <a:srgbClr val="8A909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 txBox="1"/>
          <p:nvPr/>
        </p:nvSpPr>
        <p:spPr>
          <a:xfrm>
            <a:off x="1522476" y="5532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2"/>
                </a:solidFill>
              </a:rPr>
              <a:t>시작: 무작위 노이즈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825996" y="5532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1,500번 학습 후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</a:rPr>
              <a:t>사람 눈에는 무늬일 뿐이지만, ResNet-50에게는 바나나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05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결과: 처음 보는 사진 1,000장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53384" cy="274320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2240280"/>
            <a:ext cx="272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패치 없음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26080"/>
            <a:ext cx="2721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tx2"/>
                </a:solidFill>
              </a:rPr>
              <a:t>0%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4367784" y="1828800"/>
            <a:ext cx="3453384" cy="274320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4733544" y="2240280"/>
            <a:ext cx="272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노이즈 패치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733544" y="2926080"/>
            <a:ext cx="2721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tx2"/>
                </a:solidFill>
              </a:rPr>
              <a:t>0%</a:t>
            </a:r>
            <a:endParaRPr lang="en-US" sz="6000" dirty="0"/>
          </a:p>
        </p:txBody>
      </p:sp>
      <p:sp>
        <p:nvSpPr>
          <p:cNvPr id="10" name="Shape 8"/>
          <p:cNvSpPr/>
          <p:nvPr/>
        </p:nvSpPr>
        <p:spPr>
          <a:xfrm>
            <a:off x="8186928" y="1828800"/>
            <a:ext cx="3453384" cy="274320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8552688" y="2240280"/>
            <a:ext cx="272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우리 패치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552688" y="2926080"/>
            <a:ext cx="2721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98.6%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9377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ResNet-50이 banana라고 답한 비율 · 목표 80% 달성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3949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같은 크기의 노이즈를 붙이면 전혀 </a:t>
            </a:r>
            <a:r>
              <a:rPr lang="en-US" sz="1500" dirty="0" err="1">
                <a:solidFill>
                  <a:schemeClr val="tx2"/>
                </a:solidFill>
              </a:rPr>
              <a:t>속지</a:t>
            </a:r>
            <a:r>
              <a:rPr lang="en-US" sz="1500" dirty="0">
                <a:solidFill>
                  <a:schemeClr val="tx2"/>
                </a:solidFill>
              </a:rPr>
              <a:t> 않</a:t>
            </a:r>
            <a:r>
              <a:rPr lang="ko-KR" altLang="en-US" sz="1500" dirty="0">
                <a:solidFill>
                  <a:schemeClr val="tx2"/>
                </a:solidFill>
              </a:rPr>
              <a:t>는다</a:t>
            </a:r>
            <a:r>
              <a:rPr lang="en-US" sz="1500" dirty="0">
                <a:solidFill>
                  <a:schemeClr val="tx2"/>
                </a:solidFill>
              </a:rPr>
              <a:t>. 학습된 </a:t>
            </a:r>
            <a:r>
              <a:rPr lang="en-US" sz="1500" dirty="0" err="1">
                <a:solidFill>
                  <a:schemeClr val="tx2"/>
                </a:solidFill>
              </a:rPr>
              <a:t>무늬가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핵심</a:t>
            </a:r>
            <a:r>
              <a:rPr lang="en-US" sz="1500" dirty="0">
                <a:solidFill>
                  <a:schemeClr val="tx2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06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Before / After</a:t>
            </a:r>
            <a:endParaRPr lang="en-US" sz="2800" dirty="0"/>
          </a:p>
        </p:txBody>
      </p:sp>
      <p:pic>
        <p:nvPicPr>
          <p:cNvPr id="4" name="Image 0" descr="패치를 붙이기 전과 후의 ResNet-50 예측 6장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11091672" cy="40669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895746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 err="1">
                <a:solidFill>
                  <a:schemeClr val="tx1"/>
                </a:solidFill>
              </a:rPr>
              <a:t>모두</a:t>
            </a:r>
            <a:r>
              <a:rPr lang="en-US" sz="1800" dirty="0">
                <a:solidFill>
                  <a:schemeClr val="tx1"/>
                </a:solidFill>
              </a:rPr>
              <a:t> 패치 </a:t>
            </a:r>
            <a:r>
              <a:rPr lang="en-US" sz="1800" dirty="0" err="1">
                <a:solidFill>
                  <a:schemeClr val="tx1"/>
                </a:solidFill>
              </a:rPr>
              <a:t>하나로</a:t>
            </a:r>
            <a:r>
              <a:rPr lang="en-US" sz="1800" dirty="0">
                <a:solidFill>
                  <a:schemeClr val="tx1"/>
                </a:solidFill>
              </a:rPr>
              <a:t> banana</a:t>
            </a:r>
            <a:r>
              <a:rPr lang="ko-KR" altLang="en-US" sz="1800" dirty="0">
                <a:solidFill>
                  <a:schemeClr val="tx1"/>
                </a:solidFill>
              </a:rPr>
              <a:t>로 인식</a:t>
            </a:r>
            <a:r>
              <a:rPr lang="en-US" altLang="ko-KR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07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ko-KR" altLang="en-US" sz="2800" b="1" dirty="0">
                <a:solidFill>
                  <a:schemeClr val="tx1"/>
                </a:solidFill>
              </a:rPr>
              <a:t>유효 면적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749808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737360"/>
            <a:ext cx="3227832" cy="173736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8686800" y="192024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면적 10%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686800" y="2286000"/>
            <a:ext cx="2679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90%</a:t>
            </a:r>
            <a:endParaRPr lang="en-US" sz="4800" dirty="0"/>
          </a:p>
        </p:txBody>
      </p:sp>
      <p:sp>
        <p:nvSpPr>
          <p:cNvPr id="8" name="Shape 5"/>
          <p:cNvSpPr/>
          <p:nvPr/>
        </p:nvSpPr>
        <p:spPr>
          <a:xfrm>
            <a:off x="8412480" y="3749040"/>
            <a:ext cx="3227832" cy="173736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686800" y="393192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면적 6% 이하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4297680"/>
            <a:ext cx="2679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tx2"/>
                </a:solidFill>
              </a:rPr>
              <a:t>~0%</a:t>
            </a:r>
            <a:endParaRPr lang="en-US" sz="4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08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ko-KR" altLang="en-US" dirty="0" err="1"/>
              <a:t>전이성</a:t>
            </a:r>
            <a:r>
              <a:rPr lang="ko-KR" altLang="en-US" dirty="0"/>
              <a:t> 검증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067752123"/>
              </p:ext>
            </p:extLst>
          </p:nvPr>
        </p:nvGraphicFramePr>
        <p:xfrm>
          <a:off x="548640" y="1463040"/>
          <a:ext cx="69494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863840" y="1828800"/>
            <a:ext cx="3776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200" b="1" dirty="0">
                <a:solidFill>
                  <a:schemeClr val="tx1"/>
                </a:solidFill>
              </a:rPr>
              <a:t>전이성은 발현되지 않음</a:t>
            </a:r>
            <a:r>
              <a:rPr lang="en-US" altLang="ko-KR" sz="2200" b="1" dirty="0">
                <a:solidFill>
                  <a:schemeClr val="tx1"/>
                </a:solidFill>
              </a:rPr>
              <a:t>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3200400"/>
            <a:ext cx="37764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다른 모델에서는 banana </a:t>
            </a:r>
            <a:r>
              <a:rPr lang="en-US" sz="1600" dirty="0" err="1">
                <a:solidFill>
                  <a:schemeClr val="tx2"/>
                </a:solidFill>
              </a:rPr>
              <a:t>판정이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0~5%에 </a:t>
            </a:r>
            <a:r>
              <a:rPr lang="en-US" sz="1600" dirty="0" err="1">
                <a:solidFill>
                  <a:schemeClr val="tx2"/>
                </a:solidFill>
              </a:rPr>
              <a:t>그쳤</a:t>
            </a:r>
            <a:r>
              <a:rPr lang="ko-KR" altLang="en-US" sz="1600" dirty="0">
                <a:solidFill>
                  <a:schemeClr val="tx2"/>
                </a:solidFill>
              </a:rPr>
              <a:t>음</a:t>
            </a:r>
            <a:r>
              <a:rPr lang="en-US" altLang="ko-KR" sz="1600" dirty="0">
                <a:solidFill>
                  <a:schemeClr val="tx2"/>
                </a:solidFill>
              </a:rPr>
              <a:t>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전이성을 얻으려면 여러 </a:t>
            </a:r>
            <a:r>
              <a:rPr lang="en-US" sz="1600" dirty="0" err="1">
                <a:solidFill>
                  <a:schemeClr val="tx2"/>
                </a:solidFill>
              </a:rPr>
              <a:t>모델을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600" dirty="0" err="1">
                <a:solidFill>
                  <a:schemeClr val="tx2"/>
                </a:solidFill>
              </a:rPr>
              <a:t>함께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속이도록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학습해</a:t>
            </a:r>
            <a:r>
              <a:rPr lang="ko-KR" altLang="en-US" sz="1600" dirty="0">
                <a:solidFill>
                  <a:schemeClr val="tx2"/>
                </a:solidFill>
              </a:rPr>
              <a:t>야 할 것으로 보임</a:t>
            </a:r>
            <a:r>
              <a:rPr lang="en-US" altLang="ko-KR" sz="1600" dirty="0">
                <a:solidFill>
                  <a:schemeClr val="tx2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09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다음 단계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53384" cy="292608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21945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26080"/>
            <a:ext cx="272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전이성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566160"/>
            <a:ext cx="2721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여러 모델을 함께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속이도록 학습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67784" y="1828800"/>
            <a:ext cx="3453384" cy="292608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4733544" y="21945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733544" y="2926080"/>
            <a:ext cx="272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YOLO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733544" y="3566160"/>
            <a:ext cx="2721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사</a:t>
            </a:r>
            <a:r>
              <a:rPr lang="ko-KR" altLang="en-US" sz="1600" dirty="0">
                <a:solidFill>
                  <a:schemeClr val="tx2"/>
                </a:solidFill>
              </a:rPr>
              <a:t>람을 탐지하지 못 하도록</a:t>
            </a:r>
            <a:r>
              <a:rPr lang="en-US" altLang="ko-KR" sz="1600" dirty="0">
                <a:solidFill>
                  <a:schemeClr val="tx2"/>
                </a:solidFill>
              </a:rPr>
              <a:t>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86928" y="1828800"/>
            <a:ext cx="3453384" cy="292608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8552688" y="21945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3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8552688" y="2926080"/>
            <a:ext cx="272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인쇄 · 시연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552688" y="3566160"/>
            <a:ext cx="2721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인쇄한 패치로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웹캠 Before / After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2120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tch Project">
  <a:themeElements>
    <a:clrScheme name="Patch Project">
      <a:dk1>
        <a:srgbClr val="1F2328"/>
      </a:dk1>
      <a:lt1>
        <a:srgbClr val="FFFFFF"/>
      </a:lt1>
      <a:dk2>
        <a:srgbClr val="5F6670"/>
      </a:dk2>
      <a:lt2>
        <a:srgbClr val="F2F3F5"/>
      </a:lt2>
      <a:accent1>
        <a:srgbClr val="B3261E"/>
      </a:accent1>
      <a:accent2>
        <a:srgbClr val="FBEDEC"/>
      </a:accent2>
      <a:accent3>
        <a:srgbClr val="8A9099"/>
      </a:accent3>
      <a:accent4>
        <a:srgbClr val="C9CED6"/>
      </a:accent4>
      <a:accent5>
        <a:srgbClr val="E0726A"/>
      </a:accent5>
      <a:accent6>
        <a:srgbClr val="1B1F24"/>
      </a:accent6>
      <a:hlink>
        <a:srgbClr val="B3261E"/>
      </a:hlink>
      <a:folHlink>
        <a:srgbClr val="5F6670"/>
      </a:folHlink>
    </a:clrScheme>
    <a:fontScheme name="Patch Project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504</Words>
  <Application>Microsoft Office PowerPoint</Application>
  <PresentationFormat>와이드스크린</PresentationFormat>
  <Paragraphs>94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Malgun Gothic</vt:lpstr>
      <vt:lpstr>Arial</vt:lpstr>
      <vt:lpstr>Patch Project</vt:lpstr>
      <vt:lpstr>ResNet-50을 바나나로 속이는 패치</vt:lpstr>
      <vt:lpstr>목표</vt:lpstr>
      <vt:lpstr>어떻게 만들었나</vt:lpstr>
      <vt:lpstr>학습된 패치</vt:lpstr>
      <vt:lpstr>결과: 처음 보는 사진 1,000장</vt:lpstr>
      <vt:lpstr>Before / After</vt:lpstr>
      <vt:lpstr>유효 면적</vt:lpstr>
      <vt:lpstr>전이성 검증</vt:lpstr>
      <vt:lpstr>다음 단계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ResNet-50 바나나 적대적 패치</dc:title>
  <dc:subject>PptxGenJS Presentation</dc:subject>
  <dc:creator>PptxGenJS</dc:creator>
  <cp:lastModifiedBy>김도현</cp:lastModifiedBy>
  <cp:revision>7</cp:revision>
  <dcterms:created xsi:type="dcterms:W3CDTF">2026-10-27T14:17:56Z</dcterms:created>
  <dcterms:modified xsi:type="dcterms:W3CDTF">2026-10-28T04:37:16Z</dcterms:modified>
</cp:coreProperties>
</file>