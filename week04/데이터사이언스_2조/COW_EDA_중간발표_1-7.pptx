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고객 구매행동 및 배송수단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COW 프로젝트  |  중간 분석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5F7FB"/>
                </a:solidFill>
                <a:latin typeface="Apple SD Gothic Neo"/>
              </a:defRPr>
            </a:pPr>
            <a:r>
              <a:t>3,900명 고객 데이터 기반</a:t>
            </a:r>
          </a:p>
          <a:p>
            <a:pPr>
              <a:spcAft>
                <a:spcPts val="800"/>
              </a:spcAft>
              <a:defRPr sz="3600" b="1">
                <a:solidFill>
                  <a:srgbClr val="F5F7FB"/>
                </a:solidFill>
                <a:latin typeface="Apple SD Gothic Neo"/>
              </a:defRPr>
            </a:pPr>
            <a:r>
              <a:t>탐색적 분석 결과와 향후 방향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00600"/>
            <a:ext cx="9875520" cy="2286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AAB8CB"/>
                </a:solidFill>
                <a:latin typeface="Apple SD Gothic Neo"/>
              </a:defRPr>
            </a:pPr>
            <a:r>
              <a:t>EDA 1–7  ·  상관관계  ·  배송 이용 패턴  ·  통계 검정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분석 목적과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기존 전처리 결과를 바탕으로 고객 행동과 배송수단의 관계를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126480" cy="859536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1956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7FB"/>
                </a:solidFill>
                <a:latin typeface="Apple SD Gothic Neo"/>
              </a:defRPr>
            </a:pPr>
            <a:r>
              <a:t>현재 구매금액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9933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B"/>
                </a:solidFill>
                <a:latin typeface="Apple SD Gothic Neo"/>
              </a:defRPr>
            </a:pPr>
            <a:r>
              <a:t>Purchase Amount (USD)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6126480" cy="859536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30540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7FB"/>
                </a:solidFill>
                <a:latin typeface="Apple SD Gothic Neo"/>
              </a:defRPr>
            </a:pPr>
            <a:r>
              <a:t>이전 구매횟수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B"/>
                </a:solidFill>
                <a:latin typeface="Apple SD Gothic Neo"/>
              </a:defRPr>
            </a:pPr>
            <a:r>
              <a:t>Previous Purchases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23360"/>
            <a:ext cx="6126480" cy="859536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41513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7FB"/>
                </a:solidFill>
                <a:latin typeface="Apple SD Gothic Neo"/>
              </a:defRPr>
            </a:pPr>
            <a:r>
              <a:t>연간 예상 구매빈도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879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B"/>
                </a:solidFill>
                <a:latin typeface="Apple SD Gothic Neo"/>
              </a:defRPr>
            </a:pPr>
            <a:r>
              <a:t>Frequency of Purchases 변환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74519"/>
            <a:ext cx="3474720" cy="3383280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21305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9C7D4"/>
                </a:solidFill>
                <a:latin typeface="Apple SD Gothic Neo"/>
              </a:defRPr>
            </a:pPr>
            <a:r>
              <a:t>분석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889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구매행동이 다른 고객들은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배송수단도 다르게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이용하는가?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EDA 1–3 | 구매행동 변수 간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피어슨 상관계수: 세 변수 쌍 모두 |r| &lt; 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03</a:t>
            </a:r>
          </a:p>
        </p:txBody>
      </p:sp>
      <p:pic>
        <p:nvPicPr>
          <p:cNvPr id="6" name="Picture 5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406640" cy="61455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719072"/>
            <a:ext cx="3291840" cy="3383280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97510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9C7D4"/>
                </a:solidFill>
                <a:latin typeface="Apple SD Gothic Neo"/>
              </a:defRPr>
            </a:pPr>
            <a:r>
              <a:t>핵심 발견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633472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구매금액 ↔ 이전 구매횟수  0.0081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구매금액 ↔ 구매빈도  -0.0131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이전 구매횟수 ↔ 구매빈도  0.0044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뚜렷한 선형 상관관계는 확인되지 않음.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EDA 4 | 배송수단 이용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6개 배송수단 모두 약 16~17%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04</a:t>
            </a:r>
          </a:p>
        </p:txBody>
      </p:sp>
      <p:pic>
        <p:nvPicPr>
          <p:cNvPr id="6" name="Picture 5" descr="shi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7543800" cy="32785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91640"/>
            <a:ext cx="3337560" cy="3383280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947672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9C7D4"/>
                </a:solidFill>
                <a:latin typeface="Apple SD Gothic Neo"/>
              </a:defRPr>
            </a:pPr>
            <a:r>
              <a:t>핵심 발견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606040"/>
            <a:ext cx="2880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가장 많음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Free Shipping  675명 (17.31%)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가장 적음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2-Day Shipping  627명 (16.08%)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차이: 1.23%p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EDA 5 | 구매빈도 × 배송수단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행 기준 비율(%) · 구매빈도별 배송수단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05</a:t>
            </a:r>
          </a:p>
        </p:txBody>
      </p:sp>
      <p:pic>
        <p:nvPicPr>
          <p:cNvPr id="6" name="Picture 5" descr="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85" y="1380307"/>
            <a:ext cx="5576438" cy="51210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709928"/>
            <a:ext cx="3291840" cy="3383280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9C7D4"/>
                </a:solidFill>
                <a:latin typeface="Apple SD Gothic Neo"/>
              </a:defRPr>
            </a:pPr>
            <a:r>
              <a:t>카이제곱 독립성 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624328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χ² = 31.2514  |  df = 30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p = 0.4031 &gt; 0.05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통계적으로 유의한 연관성을 확인하지 못함.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※ 원본 구매빈도 7개 범주 기준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EDA 6 | 구매금액 × 배송수단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배송수단별 평균 구매금액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06</a:t>
            </a:r>
          </a:p>
        </p:txBody>
      </p:sp>
      <p:pic>
        <p:nvPicPr>
          <p:cNvPr id="6" name="Picture 5" descr="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73352"/>
            <a:ext cx="7589520" cy="32984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709928"/>
            <a:ext cx="3291840" cy="3383280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9C7D4"/>
                </a:solidFill>
                <a:latin typeface="Apple SD Gothic Neo"/>
              </a:defRPr>
            </a:pPr>
            <a:r>
              <a:t>일원분산분석 (ANOVA)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624328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F = 1.1241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p = 0.3451 &gt; 0.05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평균 범위: $58.46–$60.73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최대 차이: $2.27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유의한 평균 차이를 확인하지 못함.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EDA 7 | 이전 구매횟수 × 배송수단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배송수단별 평균 이전 구매횟수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07</a:t>
            </a:r>
          </a:p>
        </p:txBody>
      </p:sp>
      <p:pic>
        <p:nvPicPr>
          <p:cNvPr id="6" name="Picture 5" descr="previ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73352"/>
            <a:ext cx="7589520" cy="32984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709928"/>
            <a:ext cx="3291840" cy="3383280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9C7D4"/>
                </a:solidFill>
                <a:latin typeface="Apple SD Gothic Neo"/>
              </a:defRPr>
            </a:pPr>
            <a:r>
              <a:t>일원분산분석 (ANOVA)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624328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F = 1.4767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p = 0.1939 &gt; 0.05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평균 범위: 24.74–26.23회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최대 차이: 1.49회</a:t>
            </a:r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F5F7FB"/>
                </a:solidFill>
                <a:latin typeface="Apple SD Gothic Neo"/>
              </a:defRPr>
            </a:pPr>
            <a:r>
              <a:t>유의한 평균 차이를 확인하지 못함.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중간 결론 | 아직 뚜렷한 연관성은 미확인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분석 결과는 유의한 관계의 부재를 증명하는 것이 아니라, 현재 자료에서 근거가 부족함을 뜻함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607040" cy="749808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1965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9C7D4"/>
                </a:solidFill>
                <a:latin typeface="Apple SD Gothic Neo"/>
              </a:defRPr>
            </a:pPr>
            <a:r>
              <a:t>변수 간 상관관계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6766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7FB"/>
                </a:solidFill>
                <a:latin typeface="Apple SD Gothic Neo"/>
              </a:defRPr>
            </a:pPr>
            <a:r>
              <a:t>3개 구매행동 지표의 선형 상관관계는 매우 낮음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51760"/>
            <a:ext cx="10607040" cy="749808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77977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9C7D4"/>
                </a:solidFill>
                <a:latin typeface="Apple SD Gothic Neo"/>
              </a:defRPr>
            </a:pPr>
            <a:r>
              <a:t>구매빈도 × 배송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88920"/>
            <a:ext cx="6766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7FB"/>
                </a:solidFill>
                <a:latin typeface="Apple SD Gothic Neo"/>
              </a:defRPr>
            </a:pPr>
            <a:r>
              <a:t>카이제곱 검정 p = 0.4031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11880"/>
            <a:ext cx="10607040" cy="749808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73989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9C7D4"/>
                </a:solidFill>
                <a:latin typeface="Apple SD Gothic Neo"/>
              </a:defRPr>
            </a:pPr>
            <a:r>
              <a:t>구매금액 × 배송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749040"/>
            <a:ext cx="6766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7FB"/>
                </a:solidFill>
                <a:latin typeface="Apple SD Gothic Neo"/>
              </a:defRPr>
            </a:pPr>
            <a:r>
              <a:t>ANOVA p = 0.3451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10607040" cy="749808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70001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9C7D4"/>
                </a:solidFill>
                <a:latin typeface="Apple SD Gothic Neo"/>
              </a:defRPr>
            </a:pPr>
            <a:r>
              <a:t>이전 구매횟수 × 배송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709160"/>
            <a:ext cx="6766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7FB"/>
                </a:solidFill>
                <a:latin typeface="Apple SD Gothic Neo"/>
              </a:defRPr>
            </a:pPr>
            <a:r>
              <a:t>ANOVA p = 0.1939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512064"/>
            <a:ext cx="91440" cy="502920"/>
          </a:xfrm>
          <a:prstGeom prst="rect">
            <a:avLst/>
          </a:prstGeom>
          <a:solidFill>
            <a:srgbClr val="29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B"/>
                </a:solidFill>
                <a:latin typeface="Apple SD Gothic Neo"/>
              </a:defRPr>
            </a:pPr>
            <a:r>
              <a:t>향후 계획 | 결과에 따라 분석 방향 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AB8CB"/>
                </a:solidFill>
                <a:latin typeface="Apple SD Gothic Neo"/>
              </a:defRPr>
            </a:pPr>
            <a:r>
              <a:t>EDA 8부터 이어서 진행하고, 군집별 배송 패턴을 확인한 후 프로젝트 방향 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01384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B8CB"/>
                </a:solidFill>
                <a:latin typeface="Apple SD Gothic Neo"/>
              </a:defRPr>
            </a:pPr>
            <a:r>
              <a:t>COW  |  CUSTOMER BEHAVIOR EDA                                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607040" cy="630936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C7D4"/>
                </a:solidFill>
                <a:latin typeface="Apple SD Gothic Neo"/>
              </a:defRPr>
            </a:pPr>
            <a:r>
              <a:t>NEXT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792224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5F7FB"/>
                </a:solidFill>
                <a:latin typeface="Apple SD Gothic Neo"/>
              </a:defRPr>
            </a:pPr>
            <a:r>
              <a:t>구독 여부 × 배송수단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78024"/>
            <a:ext cx="10607040" cy="630936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587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C7D4"/>
                </a:solidFill>
                <a:latin typeface="Apple SD Gothic Neo"/>
              </a:defRPr>
            </a:pPr>
            <a:r>
              <a:t>NEXT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57860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5F7FB"/>
                </a:solidFill>
                <a:latin typeface="Apple SD Gothic Neo"/>
              </a:defRPr>
            </a:pPr>
            <a:r>
              <a:t>구매 카테고리 × 배송수단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64408"/>
            <a:ext cx="10607040" cy="630936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374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C7D4"/>
                </a:solidFill>
                <a:latin typeface="Apple SD Gothic Neo"/>
              </a:defRPr>
            </a:pPr>
            <a:r>
              <a:t>NEXT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3649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5F7FB"/>
                </a:solidFill>
                <a:latin typeface="Apple SD Gothic Neo"/>
              </a:defRPr>
            </a:pPr>
            <a:r>
              <a:t>연령대 × 배송수단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1"/>
            <a:ext cx="10607040" cy="630936"/>
          </a:xfrm>
          <a:prstGeom prst="roundRect">
            <a:avLst/>
          </a:prstGeom>
          <a:solidFill>
            <a:srgbClr val="1C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C7D4"/>
                </a:solidFill>
                <a:latin typeface="Apple SD Gothic Neo"/>
              </a:defRPr>
            </a:pPr>
            <a:r>
              <a:t>NEXT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15137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5F7FB"/>
                </a:solidFill>
                <a:latin typeface="Apple SD Gothic Neo"/>
              </a:defRPr>
            </a:pPr>
            <a:r>
              <a:t>K-means 고객 군집화 및 군집별 배송 비교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93792"/>
            <a:ext cx="10607040" cy="850392"/>
          </a:xfrm>
          <a:prstGeom prst="roundRect">
            <a:avLst/>
          </a:prstGeom>
          <a:solidFill>
            <a:srgbClr val="1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" y="5422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F7FB"/>
                </a:solidFill>
                <a:latin typeface="Apple SD Gothic Neo"/>
              </a:defRPr>
            </a:pPr>
            <a:r>
              <a:rPr dirty="0" err="1"/>
              <a:t>배송</a:t>
            </a:r>
            <a:r>
              <a:rPr dirty="0"/>
              <a:t> </a:t>
            </a:r>
            <a:r>
              <a:rPr dirty="0" err="1"/>
              <a:t>패턴</a:t>
            </a:r>
            <a:r>
              <a:rPr dirty="0"/>
              <a:t> </a:t>
            </a:r>
            <a:r>
              <a:rPr dirty="0" err="1"/>
              <a:t>차이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→ </a:t>
            </a:r>
            <a:r>
              <a:rPr dirty="0" err="1"/>
              <a:t>맞춤형</a:t>
            </a:r>
            <a:r>
              <a:rPr dirty="0"/>
              <a:t> </a:t>
            </a:r>
            <a:r>
              <a:rPr dirty="0" err="1"/>
              <a:t>배송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  |  </a:t>
            </a:r>
            <a:r>
              <a:rPr dirty="0" err="1"/>
              <a:t>차이</a:t>
            </a:r>
            <a:r>
              <a:rPr dirty="0"/>
              <a:t> </a:t>
            </a:r>
            <a:r>
              <a:rPr dirty="0" err="1"/>
              <a:t>미확인</a:t>
            </a:r>
            <a:r>
              <a:rPr dirty="0"/>
              <a:t> → </a:t>
            </a:r>
            <a:r>
              <a:rPr dirty="0" err="1"/>
              <a:t>구매행동</a:t>
            </a:r>
            <a:r>
              <a:rPr dirty="0"/>
              <a:t> </a:t>
            </a:r>
            <a:r>
              <a:rPr dirty="0" err="1"/>
              <a:t>세분화·마케팅</a:t>
            </a:r>
            <a:r>
              <a:rPr dirty="0"/>
              <a:t> </a:t>
            </a:r>
            <a:r>
              <a:rPr dirty="0" err="1"/>
              <a:t>전략에</a:t>
            </a:r>
            <a:r>
              <a:rPr dirty="0"/>
              <a:t> </a:t>
            </a:r>
            <a:r>
              <a:rPr dirty="0" err="1"/>
              <a:t>집중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449</Words>
  <Application>Microsoft Macintosh PowerPoint</Application>
  <PresentationFormat>사용자 지정</PresentationFormat>
  <Paragraphs>94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이상민</cp:lastModifiedBy>
  <cp:revision>2</cp:revision>
  <dcterms:created xsi:type="dcterms:W3CDTF">2013-01-27T09:14:16Z</dcterms:created>
  <dcterms:modified xsi:type="dcterms:W3CDTF">2026-10-21T14:52:37Z</dcterms:modified>
  <cp:category/>
</cp:coreProperties>
</file>