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Noto Sans Kr" charset="1" panose="020B02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https://github.com/2026-cow-ai-1/travel-agent/commit/88187971ec118070ac93cce24dc34e674362ef42" TargetMode="External" Type="http://schemas.openxmlformats.org/officeDocument/2006/relationships/hyperlink"/><Relationship Id="rId4" Target="https://github.com/2026-cow-ai-1/travel-agent/commit/88187971ec118070ac93cce24dc34e674362ef42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866903"/>
            <a:ext cx="18288000" cy="5420097"/>
          </a:xfrm>
          <a:custGeom>
            <a:avLst/>
            <a:gdLst/>
            <a:ahLst/>
            <a:cxnLst/>
            <a:rect r="r" b="b" t="t" l="l"/>
            <a:pathLst>
              <a:path h="5420097" w="18288000">
                <a:moveTo>
                  <a:pt x="0" y="0"/>
                </a:moveTo>
                <a:lnTo>
                  <a:pt x="18288000" y="0"/>
                </a:lnTo>
                <a:lnTo>
                  <a:pt x="18288000" y="5420097"/>
                </a:lnTo>
                <a:lnTo>
                  <a:pt x="0" y="54200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16" t="-64635" r="-916" b="-6463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31838" y="1756410"/>
            <a:ext cx="10024325" cy="810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31"/>
              </a:lnSpc>
              <a:spcBef>
                <a:spcPct val="0"/>
              </a:spcBef>
            </a:pPr>
            <a:r>
              <a:rPr lang="en-US" sz="4736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COW AI엔지니어링 1팀 3주차 진행상황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099296" y="3069267"/>
            <a:ext cx="1834652" cy="425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7"/>
              </a:lnSpc>
              <a:spcBef>
                <a:spcPct val="0"/>
              </a:spcBef>
            </a:pPr>
            <a:r>
              <a:rPr lang="en-US" sz="249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발표자 김하진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609600" y="708660"/>
            <a:ext cx="18897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8271510" y="4558564"/>
            <a:ext cx="1744980" cy="1934471"/>
            <a:chOff x="0" y="0"/>
            <a:chExt cx="812800" cy="9010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901064"/>
            </a:xfrm>
            <a:custGeom>
              <a:avLst/>
              <a:gdLst/>
              <a:ahLst/>
              <a:cxnLst/>
              <a:rect r="r" b="b" t="t" l="l"/>
              <a:pathLst>
                <a:path h="901064" w="812800">
                  <a:moveTo>
                    <a:pt x="812800" y="450532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97864"/>
                  </a:lnTo>
                  <a:lnTo>
                    <a:pt x="406400" y="697864"/>
                  </a:lnTo>
                  <a:lnTo>
                    <a:pt x="406400" y="901064"/>
                  </a:lnTo>
                  <a:lnTo>
                    <a:pt x="812800" y="450532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55575"/>
              <a:ext cx="711200" cy="5422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73"/>
                </a:lnSpc>
              </a:pPr>
              <a:r>
                <a:rPr lang="en-US" sz="2552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변경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933206" y="1538360"/>
            <a:ext cx="8421588" cy="813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31"/>
              </a:lnSpc>
              <a:spcBef>
                <a:spcPct val="0"/>
              </a:spcBef>
            </a:pPr>
            <a:r>
              <a:rPr lang="en-US" sz="4736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변경된 프로젝트 주제 및 변경사유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77004" y="3143097"/>
            <a:ext cx="2735811" cy="1001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95"/>
              </a:lnSpc>
              <a:spcBef>
                <a:spcPct val="0"/>
              </a:spcBef>
            </a:pPr>
            <a:r>
              <a:rPr lang="en-US" sz="585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이전주제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77802" y="4402227"/>
            <a:ext cx="5334214" cy="668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2"/>
              </a:lnSpc>
              <a:spcBef>
                <a:spcPct val="0"/>
              </a:spcBef>
            </a:pPr>
            <a:r>
              <a:rPr lang="en-US" sz="397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맞</a:t>
            </a:r>
            <a:r>
              <a:rPr lang="en-US" sz="397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춤 어린이집 추천 챗봇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38212" y="5571051"/>
            <a:ext cx="5373804" cy="179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3"/>
              </a:lnSpc>
            </a:pPr>
            <a:r>
              <a:rPr lang="en-US" sz="2552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변경사유</a:t>
            </a:r>
          </a:p>
          <a:p>
            <a:pPr algn="l">
              <a:lnSpc>
                <a:spcPts val="3573"/>
              </a:lnSpc>
            </a:pPr>
            <a:r>
              <a:rPr lang="en-US" sz="2552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-전체적인 커리큘럼과 맞지 않음</a:t>
            </a:r>
          </a:p>
          <a:p>
            <a:pPr algn="l">
              <a:lnSpc>
                <a:spcPts val="3573"/>
              </a:lnSpc>
            </a:pPr>
            <a:r>
              <a:rPr lang="en-US" sz="2552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-에이전트 사용에 초점을 맞추기 위하여</a:t>
            </a:r>
          </a:p>
          <a:p>
            <a:pPr algn="l">
              <a:lnSpc>
                <a:spcPts val="3573"/>
              </a:lnSpc>
              <a:spcBef>
                <a:spcPct val="0"/>
              </a:spcBef>
            </a:pPr>
            <a:r>
              <a:rPr lang="en-US" sz="2552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-데이터 부족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821124" y="64770"/>
            <a:ext cx="2352576" cy="496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8"/>
              </a:lnSpc>
              <a:spcBef>
                <a:spcPct val="0"/>
              </a:spcBef>
            </a:pPr>
            <a:r>
              <a:rPr lang="en-US" sz="2942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주제 소개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48312" y="3089208"/>
            <a:ext cx="2872611" cy="1055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05"/>
              </a:lnSpc>
              <a:spcBef>
                <a:spcPct val="0"/>
              </a:spcBef>
            </a:pPr>
            <a:r>
              <a:rPr lang="en-US" sz="6146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현재주제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311890" y="4417517"/>
            <a:ext cx="5290965" cy="628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04"/>
              </a:lnSpc>
              <a:spcBef>
                <a:spcPct val="0"/>
              </a:spcBef>
            </a:pPr>
            <a:r>
              <a:rPr lang="en-US" sz="364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사</a:t>
            </a:r>
            <a:r>
              <a:rPr lang="en-US" sz="364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진 기반 국내 여행지 탐색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31414" y="5478175"/>
            <a:ext cx="6906405" cy="3108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8"/>
              </a:lnSpc>
            </a:pPr>
            <a:r>
              <a:rPr lang="en-US" sz="251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프로젝트 개요</a:t>
            </a:r>
          </a:p>
          <a:p>
            <a:pPr algn="l">
              <a:lnSpc>
                <a:spcPts val="3518"/>
              </a:lnSpc>
            </a:pPr>
            <a:r>
              <a:rPr lang="en-US" sz="251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-풍경 사진 한 장 +조건 한 줄로, 분위기가 비슷하면서 실제로 갈 수 있는 국내 여행지와 이동 방법·일정을 추천해주는 에이전트</a:t>
            </a:r>
          </a:p>
          <a:p>
            <a:pPr algn="l">
              <a:lnSpc>
                <a:spcPts val="3518"/>
              </a:lnSpc>
            </a:pPr>
          </a:p>
          <a:p>
            <a:pPr algn="l">
              <a:lnSpc>
                <a:spcPts val="3518"/>
              </a:lnSpc>
            </a:pPr>
          </a:p>
          <a:p>
            <a:pPr algn="l">
              <a:lnSpc>
                <a:spcPts val="351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02411" y="933450"/>
            <a:ext cx="7483178" cy="813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31"/>
              </a:lnSpc>
              <a:spcBef>
                <a:spcPct val="0"/>
              </a:spcBef>
            </a:pPr>
            <a:r>
              <a:rPr lang="en-US" sz="4736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역할 분담 및 역할별 맡은 부분</a:t>
            </a:r>
          </a:p>
        </p:txBody>
      </p:sp>
      <p:sp>
        <p:nvSpPr>
          <p:cNvPr name="AutoShape 3" id="3"/>
          <p:cNvSpPr/>
          <p:nvPr/>
        </p:nvSpPr>
        <p:spPr>
          <a:xfrm>
            <a:off x="-609600" y="708660"/>
            <a:ext cx="18897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5821124" y="64770"/>
            <a:ext cx="2352576" cy="496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8"/>
              </a:lnSpc>
              <a:spcBef>
                <a:spcPct val="0"/>
              </a:spcBef>
            </a:pPr>
            <a:r>
              <a:rPr lang="en-US" sz="2942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주제 소개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21147" y="2461072"/>
            <a:ext cx="4688381" cy="496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0279" indent="-315139" lvl="1">
              <a:lnSpc>
                <a:spcPts val="4087"/>
              </a:lnSpc>
              <a:spcBef>
                <a:spcPct val="0"/>
              </a:spcBef>
              <a:buFont typeface="Arial"/>
              <a:buChar char="•"/>
            </a:pPr>
            <a:r>
              <a:rPr lang="en-US" sz="2919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데이터, 외부 연동 - 김지언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826847" y="2461072"/>
            <a:ext cx="4332969" cy="496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4419" indent="-317209" lvl="1">
              <a:lnSpc>
                <a:spcPts val="4113"/>
              </a:lnSpc>
              <a:spcBef>
                <a:spcPct val="0"/>
              </a:spcBef>
              <a:buFont typeface="Arial"/>
              <a:buChar char="•"/>
            </a:pPr>
            <a:r>
              <a:rPr lang="en-US" sz="2938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검색기능 구현 - 김하진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21147" y="6776158"/>
            <a:ext cx="4681384" cy="531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1291" indent="-345645" lvl="1">
              <a:lnSpc>
                <a:spcPts val="4482"/>
              </a:lnSpc>
              <a:spcBef>
                <a:spcPct val="0"/>
              </a:spcBef>
              <a:buFont typeface="Arial"/>
              <a:buChar char="•"/>
            </a:pPr>
            <a:r>
              <a:rPr lang="en-US" sz="3201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에이전트 담당 - 유희림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26847" y="6750186"/>
            <a:ext cx="4746625" cy="538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8139" indent="-344070" lvl="1">
              <a:lnSpc>
                <a:spcPts val="4462"/>
              </a:lnSpc>
              <a:spcBef>
                <a:spcPct val="0"/>
              </a:spcBef>
              <a:buFont typeface="Arial"/>
              <a:buChar char="•"/>
            </a:pPr>
            <a:r>
              <a:rPr lang="en-US" sz="3187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평</a:t>
            </a:r>
            <a:r>
              <a:rPr lang="en-US" sz="3187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가, 화면 담당 - 이지수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20991" y="3332400"/>
            <a:ext cx="5599745" cy="2565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3"/>
              </a:lnSpc>
              <a:spcBef>
                <a:spcPct val="0"/>
              </a:spcBef>
            </a:pPr>
            <a:r>
              <a:rPr lang="en-US" sz="242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전반기 - TourAPI·관광사진 수집, 장소 카드, 비풍경 필터, 라이선</a:t>
            </a:r>
            <a:r>
              <a:rPr lang="en-US" sz="242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스 기록</a:t>
            </a:r>
          </a:p>
          <a:p>
            <a:pPr algn="l">
              <a:lnSpc>
                <a:spcPts val="3393"/>
              </a:lnSpc>
              <a:spcBef>
                <a:spcPct val="0"/>
              </a:spcBef>
            </a:pPr>
            <a:r>
              <a:rPr lang="en-US" sz="242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후반기 - 이동시간(자가용·대중교통) 사전 조회·캐시, 날씨·행사 API, 호출 상한·로깅</a:t>
            </a:r>
          </a:p>
          <a:p>
            <a:pPr algn="l">
              <a:lnSpc>
                <a:spcPts val="3393"/>
              </a:lnSpc>
              <a:spcBef>
                <a:spcPct val="0"/>
              </a:spcBef>
            </a:pPr>
          </a:p>
          <a:p>
            <a:pPr algn="ctr">
              <a:lnSpc>
                <a:spcPts val="3393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3332400"/>
            <a:ext cx="5614168" cy="2958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9"/>
              </a:lnSpc>
            </a:pPr>
            <a:r>
              <a:rPr lang="en-US" sz="243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전반기 - 임베딩 생성, 벡터 DB, 검색 함수, 방식 A 검색 파트</a:t>
            </a:r>
          </a:p>
          <a:p>
            <a:pPr algn="l">
              <a:lnSpc>
                <a:spcPts val="3409"/>
              </a:lnSpc>
            </a:pPr>
            <a:r>
              <a:rPr lang="en-US" sz="243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후반기 - 모델 비교, 하이브리드 검색, 국내 사진 모드, 분위기 에이전트</a:t>
            </a:r>
          </a:p>
          <a:p>
            <a:pPr algn="l">
              <a:lnSpc>
                <a:spcPts val="3409"/>
              </a:lnSpc>
            </a:pPr>
          </a:p>
          <a:p>
            <a:pPr algn="l">
              <a:lnSpc>
                <a:spcPts val="3409"/>
              </a:lnSpc>
            </a:pPr>
          </a:p>
          <a:p>
            <a:pPr algn="ctr">
              <a:lnSpc>
                <a:spcPts val="340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321147" y="7678667"/>
            <a:ext cx="4843026" cy="2612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8"/>
              </a:lnSpc>
            </a:pPr>
            <a:r>
              <a:rPr lang="en-US" sz="251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전반기 - LLM 선정, 조건 추출, </a:t>
            </a:r>
          </a:p>
          <a:p>
            <a:pPr algn="l">
              <a:lnSpc>
                <a:spcPts val="3518"/>
              </a:lnSpc>
            </a:pPr>
            <a:r>
              <a:rPr lang="en-US" sz="251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출처 인용 설명 (방식 A LLM 파트)</a:t>
            </a:r>
          </a:p>
          <a:p>
            <a:pPr algn="l">
              <a:lnSpc>
                <a:spcPts val="3518"/>
              </a:lnSpc>
            </a:pPr>
            <a:r>
              <a:rPr lang="en-US" sz="251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후반기 - 방식 B 단일 에이전트, 현실 확인 에이전트, 조율 코드</a:t>
            </a:r>
          </a:p>
          <a:p>
            <a:pPr algn="l">
              <a:lnSpc>
                <a:spcPts val="3518"/>
              </a:lnSpc>
            </a:pPr>
          </a:p>
          <a:p>
            <a:pPr algn="ctr">
              <a:lnSpc>
                <a:spcPts val="3518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7659828"/>
            <a:ext cx="6512739" cy="2612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8"/>
              </a:lnSpc>
            </a:pPr>
            <a:r>
              <a:rPr lang="en-US" sz="251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전반기 - API 한도·약관 확인, 유사 서비스 조사, 시험 사진 세트</a:t>
            </a:r>
          </a:p>
          <a:p>
            <a:pPr algn="l">
              <a:lnSpc>
                <a:spcPts val="3518"/>
              </a:lnSpc>
            </a:pPr>
            <a:r>
              <a:rPr lang="en-US" sz="251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후반기 - 평가셋·비교 실험 운영, Streamlit 화면, 발표 자료</a:t>
            </a:r>
          </a:p>
          <a:p>
            <a:pPr algn="l">
              <a:lnSpc>
                <a:spcPts val="3518"/>
              </a:lnSpc>
            </a:pPr>
          </a:p>
          <a:p>
            <a:pPr algn="ctr">
              <a:lnSpc>
                <a:spcPts val="351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609600" y="708660"/>
            <a:ext cx="18897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1622997" y="2125911"/>
            <a:ext cx="6204015" cy="4913246"/>
          </a:xfrm>
          <a:custGeom>
            <a:avLst/>
            <a:gdLst/>
            <a:ahLst/>
            <a:cxnLst/>
            <a:rect r="r" b="b" t="t" l="l"/>
            <a:pathLst>
              <a:path h="4913246" w="6204015">
                <a:moveTo>
                  <a:pt x="0" y="0"/>
                </a:moveTo>
                <a:lnTo>
                  <a:pt x="6204014" y="0"/>
                </a:lnTo>
                <a:lnTo>
                  <a:pt x="6204014" y="4913247"/>
                </a:lnTo>
                <a:lnTo>
                  <a:pt x="0" y="49132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30563" y="933450"/>
            <a:ext cx="6426875" cy="1651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31"/>
              </a:lnSpc>
            </a:pPr>
            <a:r>
              <a:rPr lang="en-US" sz="4736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데이터·연동 - 김지언</a:t>
            </a:r>
          </a:p>
          <a:p>
            <a:pPr algn="ctr">
              <a:lnSpc>
                <a:spcPts val="6631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5081984" y="69012"/>
            <a:ext cx="3206016" cy="496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8"/>
              </a:lnSpc>
              <a:spcBef>
                <a:spcPct val="0"/>
              </a:spcBef>
            </a:pPr>
            <a:r>
              <a:rPr lang="en-US" sz="2942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역할별 이번주 성과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52136" y="9210675"/>
            <a:ext cx="15139889" cy="860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8"/>
              </a:lnSpc>
            </a:pPr>
            <a:r>
              <a:rPr lang="en-US" sz="251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TourAPI 키 발급 → 지역기반 목록 조회로 자연 관광지 수집 → 장소 카드 CSV 초안 (이름·좌표·소개글·사진 URL)</a:t>
            </a:r>
          </a:p>
          <a:p>
            <a:pPr algn="ctr">
              <a:lnSpc>
                <a:spcPts val="3518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3580199" y="7115358"/>
            <a:ext cx="2649042" cy="42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8"/>
              </a:lnSpc>
              <a:spcBef>
                <a:spcPct val="0"/>
              </a:spcBef>
            </a:pPr>
            <a:r>
              <a:rPr lang="en-US" sz="251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학습용 사진 1620개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52136" y="2212194"/>
            <a:ext cx="7569944" cy="500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2369" indent="-321185" lvl="1">
              <a:lnSpc>
                <a:spcPts val="4165"/>
              </a:lnSpc>
              <a:spcBef>
                <a:spcPct val="0"/>
              </a:spcBef>
              <a:buFont typeface="Arial"/>
              <a:buChar char="•"/>
            </a:pPr>
            <a:r>
              <a:rPr lang="en-US" sz="297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학습용 관광지 사진과 사진 주소 데이터 수집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2136" y="6241381"/>
            <a:ext cx="3951403" cy="500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2369" indent="-321185" lvl="1">
              <a:lnSpc>
                <a:spcPts val="4165"/>
              </a:lnSpc>
              <a:spcBef>
                <a:spcPct val="0"/>
              </a:spcBef>
              <a:buFont typeface="Arial"/>
              <a:buChar char="•"/>
            </a:pPr>
            <a:r>
              <a:rPr lang="en-US" sz="297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인계본 폴더를 정리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52136" y="3488158"/>
            <a:ext cx="8218603" cy="500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2369" indent="-321185" lvl="1">
              <a:lnSpc>
                <a:spcPts val="4165"/>
              </a:lnSpc>
              <a:spcBef>
                <a:spcPct val="0"/>
              </a:spcBef>
              <a:buFont typeface="Arial"/>
              <a:buChar char="•"/>
            </a:pPr>
            <a:r>
              <a:rPr lang="en-US" sz="297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검색기능 담당에게 어떻게 사용해야하는지 전달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52136" y="4864769"/>
            <a:ext cx="3951403" cy="500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2369" indent="-321185" lvl="1">
              <a:lnSpc>
                <a:spcPts val="4165"/>
              </a:lnSpc>
              <a:spcBef>
                <a:spcPct val="0"/>
              </a:spcBef>
              <a:buFont typeface="Arial"/>
              <a:buChar char="•"/>
            </a:pPr>
            <a:r>
              <a:rPr lang="en-US" sz="297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장소 카드 CSV 생성.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26307" y="8688236"/>
            <a:ext cx="4035385" cy="42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8"/>
              </a:lnSpc>
              <a:spcBef>
                <a:spcPct val="0"/>
              </a:spcBef>
            </a:pPr>
            <a:r>
              <a:rPr lang="en-US" sz="251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전체적인 이번주 진행된 사항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90211" y="7522742"/>
            <a:ext cx="3746897" cy="42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2578" indent="-271289" lvl="1">
              <a:lnSpc>
                <a:spcPts val="3518"/>
              </a:lnSpc>
              <a:spcBef>
                <a:spcPct val="0"/>
              </a:spcBef>
              <a:buFont typeface="Arial"/>
              <a:buChar char="•"/>
            </a:pPr>
            <a:r>
              <a:rPr lang="en-US" sz="251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에이전트 초기 모델 구현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609600" y="708660"/>
            <a:ext cx="18897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29360" y="1188097"/>
            <a:ext cx="8316266" cy="4172360"/>
          </a:xfrm>
          <a:custGeom>
            <a:avLst/>
            <a:gdLst/>
            <a:ahLst/>
            <a:cxnLst/>
            <a:rect r="r" b="b" t="t" l="l"/>
            <a:pathLst>
              <a:path h="4172360" w="8316266">
                <a:moveTo>
                  <a:pt x="0" y="0"/>
                </a:moveTo>
                <a:lnTo>
                  <a:pt x="8316266" y="0"/>
                </a:lnTo>
                <a:lnTo>
                  <a:pt x="8316266" y="4172361"/>
                </a:lnTo>
                <a:lnTo>
                  <a:pt x="0" y="41723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063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5548" y="5595241"/>
            <a:ext cx="4631318" cy="2984627"/>
          </a:xfrm>
          <a:custGeom>
            <a:avLst/>
            <a:gdLst/>
            <a:ahLst/>
            <a:cxnLst/>
            <a:rect r="r" b="b" t="t" l="l"/>
            <a:pathLst>
              <a:path h="2984627" w="4631318">
                <a:moveTo>
                  <a:pt x="0" y="0"/>
                </a:moveTo>
                <a:lnTo>
                  <a:pt x="4631318" y="0"/>
                </a:lnTo>
                <a:lnTo>
                  <a:pt x="4631318" y="2984627"/>
                </a:lnTo>
                <a:lnTo>
                  <a:pt x="0" y="29846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081984" y="69012"/>
            <a:ext cx="3206016" cy="496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8"/>
              </a:lnSpc>
              <a:spcBef>
                <a:spcPct val="0"/>
              </a:spcBef>
            </a:pPr>
            <a:r>
              <a:rPr lang="en-US" sz="2942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역할별 이번주 성과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99943" y="1163234"/>
            <a:ext cx="6426875" cy="1651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31"/>
              </a:lnSpc>
            </a:pPr>
            <a:r>
              <a:rPr lang="en-US" sz="4736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검색기능 구현 - 김하진</a:t>
            </a:r>
          </a:p>
          <a:p>
            <a:pPr algn="ctr">
              <a:lnSpc>
                <a:spcPts val="6631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568327" y="9210675"/>
            <a:ext cx="13151346" cy="860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8"/>
              </a:lnSpc>
            </a:pPr>
            <a:r>
              <a:rPr lang="en-US" sz="251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샘플 엑셀 1,000장을 clip-ViT-B-32로 임베딩 → FAISS/Chroma 저장 → 해외 사진 10장 예비 검색</a:t>
            </a:r>
          </a:p>
          <a:p>
            <a:pPr algn="ctr">
              <a:lnSpc>
                <a:spcPts val="3518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126307" y="8688236"/>
            <a:ext cx="4035385" cy="42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8"/>
              </a:lnSpc>
              <a:spcBef>
                <a:spcPct val="0"/>
              </a:spcBef>
            </a:pPr>
            <a:r>
              <a:rPr lang="en-US" sz="251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전체적인 이번주 진행된 사항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45626" y="2535841"/>
            <a:ext cx="9490184" cy="500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2369" indent="-321185" lvl="1">
              <a:lnSpc>
                <a:spcPts val="4165"/>
              </a:lnSpc>
              <a:spcBef>
                <a:spcPct val="0"/>
              </a:spcBef>
              <a:buFont typeface="Arial"/>
              <a:buChar char="•"/>
            </a:pPr>
            <a:r>
              <a:rPr lang="en-US" sz="297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학습용 관광지 사진,사진 주소 데이터 다운로드 및 학습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45626" y="7137119"/>
            <a:ext cx="7569944" cy="505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2369" indent="-321185" lvl="1">
              <a:lnSpc>
                <a:spcPts val="4165"/>
              </a:lnSpc>
              <a:spcBef>
                <a:spcPct val="0"/>
              </a:spcBef>
              <a:buFont typeface="Arial"/>
              <a:buChar char="•"/>
            </a:pPr>
            <a:r>
              <a:rPr lang="en-US" sz="297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학</a:t>
            </a:r>
            <a:r>
              <a:rPr lang="en-US" sz="297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습시간 보고 GPU 필요할지 임시판단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45626" y="4907771"/>
            <a:ext cx="7569944" cy="500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2369" indent="-321185" lvl="1">
              <a:lnSpc>
                <a:spcPts val="4165"/>
              </a:lnSpc>
              <a:spcBef>
                <a:spcPct val="0"/>
              </a:spcBef>
              <a:buFont typeface="Arial"/>
              <a:buChar char="•"/>
            </a:pPr>
            <a:r>
              <a:rPr lang="en-US" sz="297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인덱스 재로딩 검증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45626" y="5998633"/>
            <a:ext cx="8484344" cy="500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2369" indent="-321185" lvl="1">
              <a:lnSpc>
                <a:spcPts val="4165"/>
              </a:lnSpc>
              <a:spcBef>
                <a:spcPct val="0"/>
              </a:spcBef>
              <a:buFont typeface="Arial"/>
              <a:buChar char="•"/>
            </a:pPr>
            <a:r>
              <a:rPr lang="en-US" sz="297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이후 평가 담당에게 받은 해외사진 10장 예비검색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45626" y="3668165"/>
            <a:ext cx="8201834" cy="500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2369" indent="-321185" lvl="1">
              <a:lnSpc>
                <a:spcPts val="4165"/>
              </a:lnSpc>
              <a:spcBef>
                <a:spcPct val="0"/>
              </a:spcBef>
              <a:buFont typeface="Arial"/>
              <a:buChar char="•"/>
            </a:pPr>
            <a:r>
              <a:rPr lang="en-US" sz="297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벡터 1,000개와 장소 1,000곳이 든 인덱스 생성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85712" y="5588693"/>
            <a:ext cx="1745396" cy="467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2"/>
              </a:lnSpc>
              <a:spcBef>
                <a:spcPct val="0"/>
              </a:spcBef>
            </a:pPr>
            <a:r>
              <a:rPr lang="en-US" sz="2816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이미지 학습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301579" y="6727544"/>
            <a:ext cx="3842421" cy="1235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2386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1000장에 58초, 단순계산으로 </a:t>
            </a:r>
          </a:p>
          <a:p>
            <a:pPr algn="l">
              <a:lnSpc>
                <a:spcPts val="3341"/>
              </a:lnSpc>
            </a:pPr>
            <a:r>
              <a:rPr lang="en-US" sz="2386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10000장에 약 10분이기에 </a:t>
            </a:r>
          </a:p>
          <a:p>
            <a:pPr algn="l">
              <a:lnSpc>
                <a:spcPts val="3341"/>
              </a:lnSpc>
              <a:spcBef>
                <a:spcPct val="0"/>
              </a:spcBef>
            </a:pPr>
            <a:r>
              <a:rPr lang="en-US" sz="2386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GPU는 필요하지 않다고 판단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609600" y="708660"/>
            <a:ext cx="18897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729283" y="1267746"/>
            <a:ext cx="3955709" cy="6805261"/>
          </a:xfrm>
          <a:custGeom>
            <a:avLst/>
            <a:gdLst/>
            <a:ahLst/>
            <a:cxnLst/>
            <a:rect r="r" b="b" t="t" l="l"/>
            <a:pathLst>
              <a:path h="6805261" w="3955709">
                <a:moveTo>
                  <a:pt x="0" y="0"/>
                </a:moveTo>
                <a:lnTo>
                  <a:pt x="3955709" y="0"/>
                </a:lnTo>
                <a:lnTo>
                  <a:pt x="3955709" y="6805261"/>
                </a:lnTo>
                <a:lnTo>
                  <a:pt x="0" y="68052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332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081984" y="69012"/>
            <a:ext cx="3206016" cy="496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8"/>
              </a:lnSpc>
              <a:spcBef>
                <a:spcPct val="0"/>
              </a:spcBef>
            </a:pPr>
            <a:r>
              <a:rPr lang="en-US" sz="2942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역할별 이번주 성과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126307" y="8688236"/>
            <a:ext cx="4035385" cy="42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8"/>
              </a:lnSpc>
              <a:spcBef>
                <a:spcPct val="0"/>
              </a:spcBef>
            </a:pPr>
            <a:r>
              <a:rPr lang="en-US" sz="251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전체적인 이번주 진행된 사항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7946" y="9210675"/>
            <a:ext cx="16712109" cy="860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8"/>
              </a:lnSpc>
            </a:pPr>
            <a:r>
              <a:rPr lang="en-US" sz="251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LLM 후보 비교 (Gemini 무료 등급 vs 로컬 모델) → 조건 JSON 스키마 정의 (사용 방식 필드 포함) → 조건 추출 프롬프트 초안</a:t>
            </a:r>
          </a:p>
          <a:p>
            <a:pPr algn="ctr">
              <a:lnSpc>
                <a:spcPts val="3518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23583" y="1026074"/>
            <a:ext cx="6426875" cy="1651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31"/>
              </a:lnSpc>
            </a:pPr>
            <a:r>
              <a:rPr lang="en-US" sz="4736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에이전트 담당 - 유희림</a:t>
            </a:r>
          </a:p>
          <a:p>
            <a:pPr algn="ctr">
              <a:lnSpc>
                <a:spcPts val="6631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81266" y="5086350"/>
            <a:ext cx="9490184" cy="500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2369" indent="-321185" lvl="1">
              <a:lnSpc>
                <a:spcPts val="4165"/>
              </a:lnSpc>
              <a:spcBef>
                <a:spcPct val="0"/>
              </a:spcBef>
              <a:buFont typeface="Arial"/>
              <a:buChar char="•"/>
            </a:pPr>
            <a:r>
              <a:rPr lang="en-US" sz="297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조건 JSON 형식 확정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1266" y="2537354"/>
            <a:ext cx="9490184" cy="500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2369" indent="-321185" lvl="1">
              <a:lnSpc>
                <a:spcPts val="4165"/>
              </a:lnSpc>
              <a:spcBef>
                <a:spcPct val="0"/>
              </a:spcBef>
              <a:buFont typeface="Arial"/>
              <a:buChar char="•"/>
            </a:pPr>
            <a:r>
              <a:rPr lang="en-US" sz="297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조건 추출 프롬프트 초안 짜기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1266" y="3742515"/>
            <a:ext cx="9490184" cy="500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2369" indent="-321185" lvl="1">
              <a:lnSpc>
                <a:spcPts val="4165"/>
              </a:lnSpc>
              <a:spcBef>
                <a:spcPct val="0"/>
              </a:spcBef>
              <a:buFont typeface="Arial"/>
              <a:buChar char="•"/>
            </a:pPr>
            <a:r>
              <a:rPr lang="en-US" sz="297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문장 6개(case01~06)로 Gemini와 LLM 후보 비교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7946" y="6287002"/>
            <a:ext cx="9490184" cy="1019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2369" indent="-321185" lvl="1">
              <a:lnSpc>
                <a:spcPts val="4165"/>
              </a:lnSpc>
              <a:spcBef>
                <a:spcPct val="0"/>
              </a:spcBef>
              <a:buFont typeface="Arial"/>
              <a:buChar char="•"/>
            </a:pPr>
            <a:r>
              <a:rPr lang="en-US" sz="297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JSON 필드 origin, transport, max_travel_minutes 등 필드 6개 생성및  형식 확정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89621" y="8200556"/>
            <a:ext cx="5029994" cy="42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8"/>
              </a:lnSpc>
              <a:spcBef>
                <a:spcPct val="0"/>
              </a:spcBef>
            </a:pPr>
            <a:r>
              <a:rPr lang="en-US" sz="251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여</a:t>
            </a:r>
            <a:r>
              <a:rPr lang="en-US" sz="2513" u="sng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  <a:hlinkClick r:id="rId3" tooltip="https://github.com/2026-cow-ai-1/travel-agent/commit/88187971ec118070ac93cce24dc34e674362ef42"/>
              </a:rPr>
              <a:t>행 조건</a:t>
            </a:r>
            <a:r>
              <a:rPr lang="en-US" sz="2513" u="sng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  <a:hlinkClick r:id="rId4" tooltip="https://github.com/2026-cow-ai-1/travel-agent/commit/88187971ec118070ac93cce24dc34e674362ef42"/>
              </a:rPr>
              <a:t> 추출 및 모델 평가 구현</a:t>
            </a:r>
            <a:r>
              <a:rPr lang="en-US" sz="251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코드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609600" y="708660"/>
            <a:ext cx="18897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399151" y="2188214"/>
            <a:ext cx="8860149" cy="5609582"/>
          </a:xfrm>
          <a:custGeom>
            <a:avLst/>
            <a:gdLst/>
            <a:ahLst/>
            <a:cxnLst/>
            <a:rect r="r" b="b" t="t" l="l"/>
            <a:pathLst>
              <a:path h="5609582" w="8860149">
                <a:moveTo>
                  <a:pt x="0" y="0"/>
                </a:moveTo>
                <a:lnTo>
                  <a:pt x="8860149" y="0"/>
                </a:lnTo>
                <a:lnTo>
                  <a:pt x="8860149" y="5609582"/>
                </a:lnTo>
                <a:lnTo>
                  <a:pt x="0" y="56095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28196" y="1245066"/>
            <a:ext cx="6031607" cy="813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31"/>
              </a:lnSpc>
              <a:spcBef>
                <a:spcPct val="0"/>
              </a:spcBef>
            </a:pPr>
            <a:r>
              <a:rPr lang="en-US" sz="4736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평가, 화면 담당 - 이지수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081984" y="69012"/>
            <a:ext cx="3206016" cy="496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8"/>
              </a:lnSpc>
              <a:spcBef>
                <a:spcPct val="0"/>
              </a:spcBef>
            </a:pPr>
            <a:r>
              <a:rPr lang="en-US" sz="2942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역할별 이번주 성과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26307" y="8688236"/>
            <a:ext cx="4035385" cy="42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8"/>
              </a:lnSpc>
              <a:spcBef>
                <a:spcPct val="0"/>
              </a:spcBef>
            </a:pPr>
            <a:r>
              <a:rPr lang="en-US" sz="251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전체적인 이번주 진행된 사항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40000" y="9210675"/>
            <a:ext cx="12408000" cy="860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8"/>
              </a:lnSpc>
            </a:pPr>
            <a:r>
              <a:rPr lang="en-US" sz="251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API 한도·약관 확인표 작성 시작, 유사 서비스 조사, 해외 시험 사진 10장 수집 + 라이선스 기록</a:t>
            </a:r>
          </a:p>
          <a:p>
            <a:pPr algn="ctr">
              <a:lnSpc>
                <a:spcPts val="3518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05066" y="2791877"/>
            <a:ext cx="9490184" cy="500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2369" indent="-321185" lvl="1">
              <a:lnSpc>
                <a:spcPts val="4165"/>
              </a:lnSpc>
              <a:spcBef>
                <a:spcPct val="0"/>
              </a:spcBef>
              <a:buFont typeface="Arial"/>
              <a:buChar char="•"/>
            </a:pPr>
            <a:r>
              <a:rPr lang="en-US" sz="297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검색담당한테 테스트 파일 10장 전달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4146" y="4527075"/>
            <a:ext cx="6429802" cy="177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5218" indent="-217609" lvl="1">
              <a:lnSpc>
                <a:spcPts val="2822"/>
              </a:lnSpc>
              <a:buAutoNum type="arabicPeriod" startAt="1"/>
            </a:pPr>
            <a:r>
              <a:rPr lang="en-US" sz="201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TourAPI (한국관광공사)</a:t>
            </a:r>
          </a:p>
          <a:p>
            <a:pPr algn="l" marL="435218" indent="-217609" lvl="1">
              <a:lnSpc>
                <a:spcPts val="2822"/>
              </a:lnSpc>
              <a:buAutoNum type="arabicPeriod" startAt="1"/>
            </a:pPr>
            <a:r>
              <a:rPr lang="en-US" sz="201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ODsay</a:t>
            </a:r>
          </a:p>
          <a:p>
            <a:pPr algn="l" marL="435218" indent="-217609" lvl="1">
              <a:lnSpc>
                <a:spcPts val="2822"/>
              </a:lnSpc>
              <a:buAutoNum type="arabicPeriod" startAt="1"/>
            </a:pPr>
            <a:r>
              <a:rPr lang="en-US" sz="201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카카오맵 대중교통 (ODsay 대안)</a:t>
            </a:r>
          </a:p>
          <a:p>
            <a:pPr algn="l" marL="435218" indent="-217609" lvl="1">
              <a:lnSpc>
                <a:spcPts val="2822"/>
              </a:lnSpc>
              <a:buAutoNum type="arabicPeriod" startAt="1"/>
            </a:pPr>
            <a:r>
              <a:rPr lang="en-US" sz="201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카카오모빌리티 자동차 길찾기</a:t>
            </a:r>
          </a:p>
          <a:p>
            <a:pPr algn="l" marL="435218" indent="-217609" lvl="1">
              <a:lnSpc>
                <a:spcPts val="2822"/>
              </a:lnSpc>
              <a:spcBef>
                <a:spcPct val="0"/>
              </a:spcBef>
              <a:buAutoNum type="arabicPeriod" startAt="1"/>
            </a:pPr>
            <a:r>
              <a:rPr lang="en-US" sz="201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기상청 단기예보 등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5066" y="6546707"/>
            <a:ext cx="9490184" cy="500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2369" indent="-321185" lvl="1">
              <a:lnSpc>
                <a:spcPts val="4165"/>
              </a:lnSpc>
              <a:spcBef>
                <a:spcPct val="0"/>
              </a:spcBef>
              <a:buFont typeface="Arial"/>
              <a:buChar char="•"/>
            </a:pPr>
            <a:r>
              <a:rPr lang="en-US" sz="297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API 사용 조건 확인표 작성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05066" y="3892264"/>
            <a:ext cx="9490184" cy="500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2369" indent="-321185" lvl="1">
              <a:lnSpc>
                <a:spcPts val="4165"/>
              </a:lnSpc>
              <a:spcBef>
                <a:spcPct val="0"/>
              </a:spcBef>
              <a:buFont typeface="Arial"/>
              <a:buChar char="•"/>
            </a:pPr>
            <a:r>
              <a:rPr lang="en-US" sz="297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5개 API와 공공누리관련 API 한도 조사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78611" y="7985528"/>
            <a:ext cx="6581529" cy="505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5"/>
              </a:lnSpc>
              <a:spcBef>
                <a:spcPct val="0"/>
              </a:spcBef>
            </a:pPr>
            <a:r>
              <a:rPr lang="en-US" sz="297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API 사용 조건 확인표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609600" y="708660"/>
            <a:ext cx="18897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5789672" y="38506"/>
            <a:ext cx="2396266" cy="559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4"/>
              </a:lnSpc>
              <a:spcBef>
                <a:spcPct val="0"/>
              </a:spcBef>
            </a:pPr>
            <a:r>
              <a:rPr lang="en-US" sz="325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진행상황 소개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81266" y="1405745"/>
            <a:ext cx="2634222" cy="709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50"/>
              </a:lnSpc>
              <a:spcBef>
                <a:spcPct val="0"/>
              </a:spcBef>
            </a:pPr>
            <a:r>
              <a:rPr lang="en-US" sz="425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완료된 것들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64129" y="2346260"/>
            <a:ext cx="11716239" cy="463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  <a:spcBef>
                <a:spcPct val="0"/>
              </a:spcBef>
            </a:pPr>
            <a:r>
              <a:rPr lang="en-US" sz="272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CLIP(clip-ViT-B-32)으로 자료사진 1620장을 CPU로 벡터로 바꾸는 임베딩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10176" y="2907483"/>
            <a:ext cx="7571982" cy="42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8"/>
              </a:lnSpc>
              <a:spcBef>
                <a:spcPct val="0"/>
              </a:spcBef>
            </a:pPr>
            <a:r>
              <a:rPr lang="en-US" sz="251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걸린시간 약58초 - 현재까지는 GPU 필요없을듯?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92121" y="3567918"/>
            <a:ext cx="8315998" cy="458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4"/>
              </a:lnSpc>
              <a:spcBef>
                <a:spcPct val="0"/>
              </a:spcBef>
            </a:pPr>
            <a:r>
              <a:rPr lang="en-US" sz="276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API 5개의</a:t>
            </a:r>
            <a:r>
              <a:rPr lang="en-US" sz="2760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약관·한도 확인표와 공공누리 정리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81266" y="4131415"/>
            <a:ext cx="6429802" cy="213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01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조사한 목록</a:t>
            </a:r>
          </a:p>
          <a:p>
            <a:pPr algn="l" marL="435218" indent="-217609" lvl="1">
              <a:lnSpc>
                <a:spcPts val="2822"/>
              </a:lnSpc>
              <a:buAutoNum type="arabicPeriod" startAt="1"/>
            </a:pPr>
            <a:r>
              <a:rPr lang="en-US" sz="201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TourAPI (한국관광공사)</a:t>
            </a:r>
          </a:p>
          <a:p>
            <a:pPr algn="l" marL="435218" indent="-217609" lvl="1">
              <a:lnSpc>
                <a:spcPts val="2822"/>
              </a:lnSpc>
              <a:buAutoNum type="arabicPeriod" startAt="1"/>
            </a:pPr>
            <a:r>
              <a:rPr lang="en-US" sz="201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ODsay</a:t>
            </a:r>
          </a:p>
          <a:p>
            <a:pPr algn="l" marL="435218" indent="-217609" lvl="1">
              <a:lnSpc>
                <a:spcPts val="2822"/>
              </a:lnSpc>
              <a:buAutoNum type="arabicPeriod" startAt="1"/>
            </a:pPr>
            <a:r>
              <a:rPr lang="en-US" sz="201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카카오맵 대중교통 (ODsay 대안)</a:t>
            </a:r>
          </a:p>
          <a:p>
            <a:pPr algn="l" marL="435218" indent="-217609" lvl="1">
              <a:lnSpc>
                <a:spcPts val="2822"/>
              </a:lnSpc>
              <a:buAutoNum type="arabicPeriod" startAt="1"/>
            </a:pPr>
            <a:r>
              <a:rPr lang="en-US" sz="201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카카오모빌리티 자동차 길찾기</a:t>
            </a:r>
          </a:p>
          <a:p>
            <a:pPr algn="l" marL="435218" indent="-217609" lvl="1">
              <a:lnSpc>
                <a:spcPts val="2822"/>
              </a:lnSpc>
              <a:spcBef>
                <a:spcPct val="0"/>
              </a:spcBef>
              <a:buAutoNum type="arabicPeriod" startAt="1"/>
            </a:pPr>
            <a:r>
              <a:rPr lang="en-US" sz="2015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기상청 단기예보 등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92217" y="6669620"/>
            <a:ext cx="11260062" cy="42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8"/>
              </a:lnSpc>
              <a:spcBef>
                <a:spcPct val="0"/>
              </a:spcBef>
            </a:pPr>
            <a:r>
              <a:rPr lang="en-US" sz="251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조건 JSON</a:t>
            </a:r>
            <a:r>
              <a:rPr lang="en-US" sz="251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6필드와 조건 추출 프롬프트 초안, LLM은 로컬 대신 API로 가는 방향으로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92217" y="7821177"/>
            <a:ext cx="11260062" cy="42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8"/>
              </a:lnSpc>
              <a:spcBef>
                <a:spcPct val="0"/>
              </a:spcBef>
            </a:pPr>
            <a:r>
              <a:rPr lang="en-US" sz="251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해외풍경사진으로 임시 테스트 및 정확도 확인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609600" y="708660"/>
            <a:ext cx="18897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982783" y="1779529"/>
            <a:ext cx="7771235" cy="7050759"/>
          </a:xfrm>
          <a:custGeom>
            <a:avLst/>
            <a:gdLst/>
            <a:ahLst/>
            <a:cxnLst/>
            <a:rect r="r" b="b" t="t" l="l"/>
            <a:pathLst>
              <a:path h="7050759" w="7771235">
                <a:moveTo>
                  <a:pt x="0" y="0"/>
                </a:moveTo>
                <a:lnTo>
                  <a:pt x="7771234" y="0"/>
                </a:lnTo>
                <a:lnTo>
                  <a:pt x="7771234" y="7050759"/>
                </a:lnTo>
                <a:lnTo>
                  <a:pt x="0" y="70507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04092" y="1779529"/>
            <a:ext cx="8139908" cy="6965551"/>
          </a:xfrm>
          <a:custGeom>
            <a:avLst/>
            <a:gdLst/>
            <a:ahLst/>
            <a:cxnLst/>
            <a:rect r="r" b="b" t="t" l="l"/>
            <a:pathLst>
              <a:path h="6965551" w="8139908">
                <a:moveTo>
                  <a:pt x="0" y="0"/>
                </a:moveTo>
                <a:lnTo>
                  <a:pt x="8139908" y="0"/>
                </a:lnTo>
                <a:lnTo>
                  <a:pt x="8139908" y="6965551"/>
                </a:lnTo>
                <a:lnTo>
                  <a:pt x="0" y="69655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789672" y="38506"/>
            <a:ext cx="2396266" cy="559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4"/>
              </a:lnSpc>
              <a:spcBef>
                <a:spcPct val="0"/>
              </a:spcBef>
            </a:pPr>
            <a:r>
              <a:rPr lang="en-US" sz="325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진행상황 소개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36619" y="1123146"/>
            <a:ext cx="3657402" cy="813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31"/>
              </a:lnSpc>
              <a:spcBef>
                <a:spcPct val="0"/>
              </a:spcBef>
            </a:pPr>
            <a:r>
              <a:rPr lang="en-US" sz="4736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다음주차 계획 </a:t>
            </a:r>
          </a:p>
        </p:txBody>
      </p:sp>
      <p:sp>
        <p:nvSpPr>
          <p:cNvPr name="AutoShape 3" id="3"/>
          <p:cNvSpPr/>
          <p:nvPr/>
        </p:nvSpPr>
        <p:spPr>
          <a:xfrm>
            <a:off x="-609600" y="708660"/>
            <a:ext cx="18897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5905857" y="-95250"/>
            <a:ext cx="2382143" cy="813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31"/>
              </a:lnSpc>
              <a:spcBef>
                <a:spcPct val="0"/>
              </a:spcBef>
            </a:pPr>
            <a:r>
              <a:rPr lang="en-US" sz="4736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차후 계획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82291" y="2383959"/>
            <a:ext cx="15723418" cy="301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8123" indent="-309061" lvl="1">
              <a:lnSpc>
                <a:spcPts val="4008"/>
              </a:lnSpc>
              <a:spcBef>
                <a:spcPct val="0"/>
              </a:spcBef>
              <a:buFont typeface="Arial"/>
              <a:buChar char="•"/>
            </a:pPr>
            <a:r>
              <a:rPr lang="en-US" sz="286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약관을 확인한 뒤 서울부터</a:t>
            </a:r>
            <a:r>
              <a:rPr lang="en-US" sz="286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이동시간 사전 조회를 시작(자가용과 대중교통, 하루 무료 한도 안에서). 관광사진 API 수집</a:t>
            </a:r>
          </a:p>
          <a:p>
            <a:pPr algn="l" marL="618123" indent="-309061" lvl="1">
              <a:lnSpc>
                <a:spcPts val="4008"/>
              </a:lnSpc>
              <a:spcBef>
                <a:spcPct val="0"/>
              </a:spcBef>
              <a:buFont typeface="Arial"/>
              <a:buChar char="•"/>
            </a:pPr>
            <a:r>
              <a:rPr lang="en-US" sz="286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비풍경 사진 필터 실험</a:t>
            </a:r>
          </a:p>
          <a:p>
            <a:pPr algn="l" marL="618123" indent="-309061" lvl="1">
              <a:lnSpc>
                <a:spcPts val="4008"/>
              </a:lnSpc>
              <a:spcBef>
                <a:spcPct val="0"/>
              </a:spcBef>
              <a:buFont typeface="Arial"/>
              <a:buChar char="•"/>
            </a:pPr>
            <a:r>
              <a:rPr lang="en-US" sz="286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장소 카드만 근거로 쓰게 하는 출처 인용 설명 프롬프트 초안작성</a:t>
            </a:r>
          </a:p>
          <a:p>
            <a:pPr algn="l" marL="618123" indent="-309061" lvl="1">
              <a:lnSpc>
                <a:spcPts val="4008"/>
              </a:lnSpc>
              <a:spcBef>
                <a:spcPct val="0"/>
              </a:spcBef>
              <a:buFont typeface="Arial"/>
              <a:buChar char="•"/>
            </a:pPr>
            <a:r>
              <a:rPr lang="en-US" sz="2863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약관·한도 확인을 마무리. 다계정 사용과 결과 저장 허용 여부 확인. 약관 확인표 업데이트 정도</a:t>
            </a:r>
          </a:p>
          <a:p>
            <a:pPr algn="l">
              <a:lnSpc>
                <a:spcPts val="400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609600" y="708660"/>
            <a:ext cx="18897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6195566" y="4536906"/>
            <a:ext cx="5896868" cy="813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31"/>
              </a:lnSpc>
              <a:spcBef>
                <a:spcPct val="0"/>
              </a:spcBef>
            </a:pPr>
            <a:r>
              <a:rPr lang="en-US" sz="4736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들어주셔서 감사합니다!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DAHXSpdJ-I0</dc:identifier>
  <dcterms:modified xsi:type="dcterms:W3CDTF">2011-08-01T06:04:30Z</dcterms:modified>
  <cp:revision>1</cp:revision>
  <dc:title>COW AI엔지니어링 1팀 3주차 진행상황</dc:title>
</cp:coreProperties>
</file>