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3" r:id="rId4"/>
    <p:sldId id="258" r:id="rId5"/>
    <p:sldId id="269" r:id="rId6"/>
    <p:sldId id="261" r:id="rId7"/>
    <p:sldId id="264" r:id="rId8"/>
    <p:sldId id="262" r:id="rId9"/>
    <p:sldId id="265" r:id="rId10"/>
    <p:sldId id="266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219"/>
    <p:restoredTop sz="94675"/>
  </p:normalViewPr>
  <p:slideViewPr>
    <p:cSldViewPr snapToGrid="0">
      <p:cViewPr varScale="1">
        <p:scale>
          <a:sx n="117" d="100"/>
          <a:sy n="117" d="100"/>
        </p:scale>
        <p:origin x="192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A1D987-1E52-3077-B2D9-50FB284564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93E40B0-599A-4F88-58C4-C51176B726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E5ECB03-B027-D41F-1231-F1FAAC3C1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B2BFC-00F1-7743-85DD-3B4444B83020}" type="datetimeFigureOut">
              <a:rPr kumimoji="1" lang="ko-KR" altLang="en-US" smtClean="0"/>
              <a:t>2026. 9. 30.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280F782-F180-DC26-8700-9507E1C5A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020C1D3-DE06-BF8F-74E5-2DDD5B508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E7499-DFC0-7F4C-9F6F-FA2C3AF0582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306960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0703A6-17E9-A3F1-4C83-7337F28E6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433521-4BFA-9868-1D56-EB136867FF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374B92-48E5-F527-F3FB-2D9EE60F7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B2BFC-00F1-7743-85DD-3B4444B83020}" type="datetimeFigureOut">
              <a:rPr kumimoji="1" lang="ko-KR" altLang="en-US" smtClean="0"/>
              <a:t>2026. 9. 30.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8E72C9B-6C20-ABA8-06E0-3953330E4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B72F427-6580-7A18-E8F9-AB3AC9AB8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E7499-DFC0-7F4C-9F6F-FA2C3AF0582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4466128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BE3957-5C99-388D-9236-5D3F0716E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AF0AC68-0917-90A8-BB32-3B23C76F2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E350B6-D423-39F0-BC80-E8DE0453D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B2BFC-00F1-7743-85DD-3B4444B83020}" type="datetimeFigureOut">
              <a:rPr kumimoji="1" lang="ko-KR" altLang="en-US" smtClean="0"/>
              <a:t>2026. 9. 30.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E241A5-6723-D234-62C8-98FB1FBFD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AFCFD94-416C-7420-4768-1D678F37B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E7499-DFC0-7F4C-9F6F-FA2C3AF0582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968568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105513-2AE3-47F5-8943-56C03E25A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4DD2566-59F5-6EB0-7383-A538DBE7EE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76A830D-D912-2AE4-D7C3-A002A5E253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A6EEDDB-7C36-850C-500A-76ED2E495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B2BFC-00F1-7743-85DD-3B4444B83020}" type="datetimeFigureOut">
              <a:rPr kumimoji="1" lang="ko-KR" altLang="en-US" smtClean="0"/>
              <a:t>2026. 9. 30.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1797B1D-A1CE-0125-8E29-E24AB9BED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6DA20F5-2003-91F8-AC6E-38709F2CB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E7499-DFC0-7F4C-9F6F-FA2C3AF0582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301343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CD17DC-E628-4409-23DD-4AE09304E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FF1CBFA-E2E8-EE16-A580-2B7F3C07EA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F7413A6-0B8F-A5E5-08A8-2CDF5D43F0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142B023-B9EA-089F-76EF-F307BE4DE8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489AA24-CE06-2450-7C4F-2A8A81B847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75CE0B8-797A-5189-0282-679FD911D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B2BFC-00F1-7743-85DD-3B4444B83020}" type="datetimeFigureOut">
              <a:rPr kumimoji="1" lang="ko-KR" altLang="en-US" smtClean="0"/>
              <a:t>2026. 9. 30.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D0545B5-B114-BDE9-5AEA-DF30109D1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633956C-2257-FE99-8412-3DA9323A3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E7499-DFC0-7F4C-9F6F-FA2C3AF0582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4370693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AE14F4-844C-18CA-D1E7-F8B921F73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D4D6864-D286-9FE6-2A0A-F6C5E2964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B2BFC-00F1-7743-85DD-3B4444B83020}" type="datetimeFigureOut">
              <a:rPr kumimoji="1" lang="ko-KR" altLang="en-US" smtClean="0"/>
              <a:t>2026. 9. 30.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8E293BE-8C75-21AC-6931-AA7F631EC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FD9933A-273A-BB47-4D27-2A69DDE2E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E7499-DFC0-7F4C-9F6F-FA2C3AF0582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2324011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F6A448D-6935-B8B5-705C-8917D0426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B2BFC-00F1-7743-85DD-3B4444B83020}" type="datetimeFigureOut">
              <a:rPr kumimoji="1" lang="ko-KR" altLang="en-US" smtClean="0"/>
              <a:t>2026. 9. 30.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DDD7A69-B855-1F5B-95FB-FA00A56A2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AC8C4A2-162E-FDAE-3E75-B20AB5A6D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E7499-DFC0-7F4C-9F6F-FA2C3AF0582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434072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F83259-4D86-D17F-A1D9-A787080DC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3082FE-4FFB-C511-ECF1-53CE52D33D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6E8976E-259D-90A8-B438-77118A2C33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DF07E18-5992-6B19-370B-B15DB0DD3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B2BFC-00F1-7743-85DD-3B4444B83020}" type="datetimeFigureOut">
              <a:rPr kumimoji="1" lang="ko-KR" altLang="en-US" smtClean="0"/>
              <a:t>2026. 9. 30.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EB44064-CE31-9931-C665-DA80E59AA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020CC94-3E6E-552F-EDAD-CDE1DA7B6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E7499-DFC0-7F4C-9F6F-FA2C3AF0582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4385478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8F2F9B-944D-0196-6C85-164FF45F1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D50A5F2-14BF-DA66-0C6C-4225526E9AB4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364C77F-2AB0-BEF5-3FC5-4D2E0AEB36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340E219-160B-7A47-E262-F7218E8A2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B2BFC-00F1-7743-85DD-3B4444B83020}" type="datetimeFigureOut">
              <a:rPr kumimoji="1" lang="ko-KR" altLang="en-US" smtClean="0"/>
              <a:t>2026. 9. 30.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2F670F7-0E34-64D9-CAB3-659722F82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0B0BF1A-AD89-0801-C2DE-317470FB3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E7499-DFC0-7F4C-9F6F-FA2C3AF0582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3044867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EAAE89-1550-F208-8040-F90292687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3A476DD-6100-B754-E32A-E40A454551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5AAE71-5C06-4B95-2869-6A4513ED0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B2BFC-00F1-7743-85DD-3B4444B83020}" type="datetimeFigureOut">
              <a:rPr kumimoji="1" lang="ko-KR" altLang="en-US" smtClean="0"/>
              <a:t>2026. 9. 30.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362B82-293D-27B6-A64A-73574A936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AFDB401-C601-48D4-C852-3D1E57B98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E7499-DFC0-7F4C-9F6F-FA2C3AF0582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673053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24DF42E-F8F7-C954-F3F2-AC7809C014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8FFDB46-3273-5A3A-6FCB-D75D4AA62D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474EDD9-54A4-B3B7-C0EC-9696CFF22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B2BFC-00F1-7743-85DD-3B4444B83020}" type="datetimeFigureOut">
              <a:rPr kumimoji="1" lang="ko-KR" altLang="en-US" smtClean="0"/>
              <a:t>2026. 9. 30.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6A65141-9F6C-055F-507C-2BC23C886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93EE979-8EAA-9E46-FFB9-471C81CAC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E7499-DFC0-7F4C-9F6F-FA2C3AF0582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994318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02052A-0933-2782-25EF-F4BE700DA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DEB8625-4CCF-3DD5-0423-69DD197F03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6C4EC61-DA96-7DF3-DEB6-8398BF03F1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BB2BFC-00F1-7743-85DD-3B4444B83020}" type="datetimeFigureOut">
              <a:rPr kumimoji="1" lang="ko-KR" altLang="en-US" smtClean="0"/>
              <a:t>2026. 9. 30.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A32E765-D995-5148-D8F6-2B353BF0D8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C27800A-6338-11EC-76E4-EB4D5EEF4D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BE7499-DFC0-7F4C-9F6F-FA2C3AF0582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11831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518B9A-4351-AC06-52C3-84BDEC387C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kumimoji="1" lang="ko-KR" altLang="en-US" sz="4800" dirty="0">
                <a:latin typeface="맑은 고딕"/>
                <a:ea typeface="맑은 고딕"/>
              </a:rPr>
              <a:t>맞춤 어린이집 추천 </a:t>
            </a:r>
            <a:r>
              <a:rPr kumimoji="1" lang="ko-KR" altLang="en-US" sz="4800" dirty="0" err="1">
                <a:latin typeface="맑은 고딕"/>
                <a:ea typeface="맑은 고딕"/>
              </a:rPr>
              <a:t>챗봇</a:t>
            </a:r>
            <a:r>
              <a:rPr kumimoji="1" lang="ko-KR" altLang="en-US" sz="4800" dirty="0">
                <a:latin typeface="맑은 고딕"/>
                <a:ea typeface="맑은 고딕"/>
              </a:rPr>
              <a:t> 시스템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1D3E7A8-DB29-A512-DE2C-52D7E55C62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79770"/>
            <a:ext cx="9144000" cy="1655762"/>
          </a:xfrm>
        </p:spPr>
        <p:txBody>
          <a:bodyPr/>
          <a:lstStyle/>
          <a:p>
            <a:endParaRPr kumimoji="1" lang="en-US" altLang="ko-KR" dirty="0"/>
          </a:p>
          <a:p>
            <a:r>
              <a:rPr kumimoji="1" lang="en-US" altLang="ko-KR" dirty="0">
                <a:latin typeface="맑은 고딕"/>
                <a:ea typeface="맑은 고딕"/>
              </a:rPr>
              <a:t>AI</a:t>
            </a:r>
            <a:r>
              <a:rPr kumimoji="1" lang="ko-KR" altLang="en-US" dirty="0">
                <a:latin typeface="맑은 고딕"/>
                <a:ea typeface="맑은 고딕"/>
              </a:rPr>
              <a:t>팀 </a:t>
            </a:r>
            <a:r>
              <a:rPr kumimoji="1" lang="en-US" altLang="ko-KR" dirty="0">
                <a:latin typeface="맑은 고딕"/>
                <a:ea typeface="맑은 고딕"/>
              </a:rPr>
              <a:t>1</a:t>
            </a:r>
            <a:r>
              <a:rPr kumimoji="1" lang="ko-KR" altLang="en-US" dirty="0">
                <a:latin typeface="맑은 고딕"/>
                <a:ea typeface="맑은 고딕"/>
              </a:rPr>
              <a:t>조 </a:t>
            </a:r>
            <a:r>
              <a:rPr kumimoji="1" lang="en-US" altLang="ko-KR" dirty="0">
                <a:latin typeface="맑은 고딕"/>
                <a:ea typeface="맑은 고딕"/>
              </a:rPr>
              <a:t>2</a:t>
            </a:r>
            <a:r>
              <a:rPr kumimoji="1" lang="ko-KR" altLang="en-US" dirty="0">
                <a:latin typeface="맑은 고딕"/>
                <a:ea typeface="맑은 고딕"/>
              </a:rPr>
              <a:t>주차</a:t>
            </a:r>
          </a:p>
        </p:txBody>
      </p:sp>
    </p:spTree>
    <p:extLst>
      <p:ext uri="{BB962C8B-B14F-4D97-AF65-F5344CB8AC3E}">
        <p14:creationId xmlns:p14="http://schemas.microsoft.com/office/powerpoint/2010/main" val="35401215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FB60E8C-7224-44A4-87A0-46A1711DD2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81E6F55-6582-FFE2-1E9B-48DE88FC0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528" y="384048"/>
            <a:ext cx="10140696" cy="1298448"/>
          </a:xfrm>
        </p:spPr>
        <p:txBody>
          <a:bodyPr anchor="ctr">
            <a:normAutofit/>
          </a:bodyPr>
          <a:lstStyle/>
          <a:p>
            <a:pPr algn="l"/>
            <a:r>
              <a:rPr kumimoji="1" lang="ko-KR" altLang="en-US" sz="4000" b="0" dirty="0">
                <a:solidFill>
                  <a:srgbClr val="222B33"/>
                </a:solidFill>
                <a:latin typeface="맑은 고딕"/>
                <a:ea typeface="맑은 고딕"/>
              </a:rPr>
              <a:t>주제선정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DA32751-37A2-45C0-BE94-63D375E27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F805A8AB-9458-3612-1490-86E9A4E026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295" y="2933322"/>
            <a:ext cx="5150277" cy="2897029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8F47EFB-6F11-9110-3C2A-6AEB8D178C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6429" y="2599509"/>
            <a:ext cx="4530898" cy="363945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ko-KR" altLang="en-US" sz="2000" dirty="0">
                <a:latin typeface="맑은 고딕"/>
                <a:ea typeface="맑은 고딕"/>
              </a:rPr>
              <a:t>어린이집 규모</a:t>
            </a:r>
            <a:r>
              <a:rPr lang="en-US" altLang="ko-KR" sz="2000" dirty="0">
                <a:latin typeface="맑은 고딕"/>
                <a:ea typeface="맑은 고딕"/>
              </a:rPr>
              <a:t>,</a:t>
            </a:r>
            <a:r>
              <a:rPr lang="ko-KR" altLang="en-US" sz="2000" dirty="0">
                <a:latin typeface="맑은 고딕"/>
                <a:ea typeface="맑은 고딕"/>
              </a:rPr>
              <a:t>거리</a:t>
            </a:r>
            <a:r>
              <a:rPr lang="en-US" altLang="ko-KR" sz="2000" dirty="0">
                <a:latin typeface="맑은 고딕"/>
                <a:ea typeface="맑은 고딕"/>
              </a:rPr>
              <a:t>,</a:t>
            </a:r>
            <a:r>
              <a:rPr lang="ko-KR" altLang="en-US" sz="2000" dirty="0">
                <a:latin typeface="맑은 고딕"/>
                <a:ea typeface="맑은 고딕"/>
              </a:rPr>
              <a:t>프로그램 등등</a:t>
            </a:r>
            <a:r>
              <a:rPr lang="en-US" altLang="ko-KR" sz="2000" dirty="0">
                <a:latin typeface="맑은 고딕"/>
                <a:ea typeface="맑은 고딕"/>
              </a:rPr>
              <a:t>,</a:t>
            </a:r>
            <a:r>
              <a:rPr lang="ko-KR" altLang="en-US" sz="2000" dirty="0">
                <a:latin typeface="맑은 고딕"/>
                <a:ea typeface="맑은 고딕"/>
              </a:rPr>
              <a:t>선호하는 방식에 따라 어린이집을 추천해주는 시스템을 구상</a:t>
            </a:r>
            <a:endParaRPr lang="en-US" altLang="ko-KR" sz="20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A55FBCD-CD42-40F5-8A1B-3203F9CAEE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7874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5528" y="384048"/>
            <a:ext cx="10140696" cy="1298448"/>
          </a:xfrm>
        </p:spPr>
        <p:txBody>
          <a:bodyPr anchor="ctr"/>
          <a:lstStyle/>
          <a:p>
            <a:pPr algn="l"/>
            <a:r>
              <a:rPr sz="4000" b="0" dirty="0" err="1">
                <a:solidFill>
                  <a:srgbClr val="222B33"/>
                </a:solidFill>
                <a:latin typeface="맑은 고딕"/>
                <a:ea typeface="맑은 고딕"/>
              </a:rPr>
              <a:t>서비스</a:t>
            </a:r>
            <a:r>
              <a:rPr sz="4000" b="0" dirty="0">
                <a:solidFill>
                  <a:srgbClr val="222B33"/>
                </a:solidFill>
                <a:latin typeface="맑은 고딕"/>
                <a:ea typeface="맑은 고딕"/>
              </a:rPr>
              <a:t> </a:t>
            </a:r>
            <a:r>
              <a:rPr sz="4000" b="0" dirty="0" err="1">
                <a:solidFill>
                  <a:srgbClr val="222B33"/>
                </a:solidFill>
                <a:latin typeface="맑은 고딕"/>
                <a:ea typeface="맑은 고딕"/>
              </a:rPr>
              <a:t>소개</a:t>
            </a:r>
            <a:endParaRPr sz="3600" b="1" dirty="0">
              <a:solidFill>
                <a:srgbClr val="222B33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10698480" cy="1143000"/>
          </a:xfrm>
          <a:prstGeom prst="roundRect">
            <a:avLst>
              <a:gd name="adj" fmla="val 6000"/>
            </a:avLst>
          </a:prstGeom>
          <a:solidFill>
            <a:srgbClr val="1B9A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10332720" cy="11430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조건을 말하면, 이유와 함께 어린이집을 추천해 주는 챗봇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88920"/>
            <a:ext cx="1069848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22B33"/>
                </a:solidFill>
                <a:latin typeface="맑은 고딕"/>
                <a:ea typeface="맑은 고딕"/>
              </a:rPr>
              <a:t>육아크루는 '찾아보는' 서비스, 우리는 '말로 조건을 입력하고 이유까지 듣는' 서비스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8450364"/>
              </p:ext>
            </p:extLst>
          </p:nvPr>
        </p:nvGraphicFramePr>
        <p:xfrm>
          <a:off x="731520" y="3291840"/>
          <a:ext cx="106984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r>
                        <a:rPr lang="ko-KR" altLang="en-US" sz="160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구분</a:t>
                      </a:r>
                    </a:p>
                  </a:txBody>
                  <a:tcPr marL="182880" anchor="ctr">
                    <a:solidFill>
                      <a:srgbClr val="1B9A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6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육아크루</a:t>
                      </a:r>
                    </a:p>
                  </a:txBody>
                  <a:tcPr marL="182880" anchor="ctr">
                    <a:solidFill>
                      <a:srgbClr val="1B9A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6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우리 서비스</a:t>
                      </a:r>
                    </a:p>
                  </a:txBody>
                  <a:tcPr marL="182880" anchor="ctr">
                    <a:solidFill>
                      <a:srgbClr val="1B9A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ko-KR" altLang="en-US" sz="1600" b="1">
                          <a:solidFill>
                            <a:srgbClr val="222B33"/>
                          </a:solidFill>
                          <a:latin typeface="맑은 고딕"/>
                          <a:ea typeface="맑은 고딕"/>
                        </a:rPr>
                        <a:t>제공 기능</a:t>
                      </a:r>
                    </a:p>
                  </a:txBody>
                  <a:tcPr marL="182880" anchor="ctr">
                    <a:solidFill>
                      <a:srgbClr val="E8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600">
                          <a:solidFill>
                            <a:srgbClr val="222B33"/>
                          </a:solidFill>
                          <a:latin typeface="맑은 고딕"/>
                          <a:ea typeface="맑은 고딕"/>
                        </a:rPr>
                        <a:t>친구 매칭</a:t>
                      </a:r>
                      <a:r>
                        <a:rPr lang="en-US" altLang="ko-KR" sz="1600">
                          <a:solidFill>
                            <a:srgbClr val="222B33"/>
                          </a:solidFill>
                          <a:latin typeface="맑은 고딕"/>
                          <a:ea typeface="맑은 고딕"/>
                        </a:rPr>
                        <a:t>, </a:t>
                      </a:r>
                      <a:r>
                        <a:rPr lang="ko-KR" altLang="en-US" sz="1600">
                          <a:solidFill>
                            <a:srgbClr val="222B33"/>
                          </a:solidFill>
                          <a:latin typeface="맑은 고딕"/>
                          <a:ea typeface="맑은 고딕"/>
                        </a:rPr>
                        <a:t>어린이집 검색</a:t>
                      </a:r>
                      <a:r>
                        <a:rPr lang="en-US" altLang="ko-KR" sz="1600">
                          <a:solidFill>
                            <a:srgbClr val="222B33"/>
                          </a:solidFill>
                          <a:latin typeface="맑은 고딕"/>
                          <a:ea typeface="맑은 고딕"/>
                        </a:rPr>
                        <a:t>·</a:t>
                      </a:r>
                      <a:r>
                        <a:rPr lang="ko-KR" altLang="en-US" sz="1600">
                          <a:solidFill>
                            <a:srgbClr val="222B33"/>
                          </a:solidFill>
                          <a:latin typeface="맑은 고딕"/>
                          <a:ea typeface="맑은 고딕"/>
                        </a:rPr>
                        <a:t>정보</a:t>
                      </a:r>
                      <a:r>
                        <a:rPr lang="en-US" altLang="ko-KR" sz="1600">
                          <a:solidFill>
                            <a:srgbClr val="222B33"/>
                          </a:solidFill>
                          <a:latin typeface="맑은 고딕"/>
                          <a:ea typeface="맑은 고딕"/>
                        </a:rPr>
                        <a:t>·</a:t>
                      </a:r>
                      <a:r>
                        <a:rPr lang="ko-KR" altLang="en-US" sz="1600">
                          <a:solidFill>
                            <a:srgbClr val="222B33"/>
                          </a:solidFill>
                          <a:latin typeface="맑은 고딕"/>
                          <a:ea typeface="맑은 고딕"/>
                        </a:rPr>
                        <a:t>후기</a:t>
                      </a:r>
                    </a:p>
                  </a:txBody>
                  <a:tcPr marL="18288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600" b="1">
                          <a:solidFill>
                            <a:srgbClr val="222B33"/>
                          </a:solidFill>
                          <a:latin typeface="맑은 고딕"/>
                          <a:ea typeface="맑은 고딕"/>
                        </a:rPr>
                        <a:t>조건에 맞는 어린이집 추천</a:t>
                      </a:r>
                    </a:p>
                  </a:txBody>
                  <a:tcPr marL="182880" anchor="ctr">
                    <a:solidFill>
                      <a:srgbClr val="E8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ko-KR" altLang="en-US" sz="1600" b="1">
                          <a:solidFill>
                            <a:srgbClr val="222B33"/>
                          </a:solidFill>
                          <a:latin typeface="맑은 고딕"/>
                          <a:ea typeface="맑은 고딕"/>
                        </a:rPr>
                        <a:t>조건 입력</a:t>
                      </a:r>
                    </a:p>
                  </a:txBody>
                  <a:tcPr marL="182880" anchor="ctr">
                    <a:solidFill>
                      <a:srgbClr val="E8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600">
                          <a:solidFill>
                            <a:srgbClr val="222B33"/>
                          </a:solidFill>
                          <a:latin typeface="맑은 고딕"/>
                          <a:ea typeface="맑은 고딕"/>
                        </a:rPr>
                        <a:t>검색으로 직접 찾기</a:t>
                      </a:r>
                    </a:p>
                  </a:txBody>
                  <a:tcPr marL="18288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600" b="1">
                          <a:solidFill>
                            <a:srgbClr val="222B33"/>
                          </a:solidFill>
                          <a:latin typeface="맑은 고딕"/>
                          <a:ea typeface="맑은 고딕"/>
                        </a:rPr>
                        <a:t>대화</a:t>
                      </a:r>
                      <a:r>
                        <a:rPr lang="en-US" altLang="ko-KR" sz="1600" b="1">
                          <a:solidFill>
                            <a:srgbClr val="222B33"/>
                          </a:solidFill>
                          <a:latin typeface="맑은 고딕"/>
                          <a:ea typeface="맑은 고딕"/>
                        </a:rPr>
                        <a:t>(</a:t>
                      </a:r>
                      <a:r>
                        <a:rPr lang="ko-KR" altLang="en-US" sz="1600" b="1">
                          <a:solidFill>
                            <a:srgbClr val="222B33"/>
                          </a:solidFill>
                          <a:latin typeface="맑은 고딕"/>
                          <a:ea typeface="맑은 고딕"/>
                        </a:rPr>
                        <a:t>자연어</a:t>
                      </a:r>
                      <a:r>
                        <a:rPr lang="en-US" altLang="ko-KR" sz="1600" b="1">
                          <a:solidFill>
                            <a:srgbClr val="222B33"/>
                          </a:solidFill>
                          <a:latin typeface="맑은 고딕"/>
                          <a:ea typeface="맑은 고딕"/>
                        </a:rPr>
                        <a:t>)</a:t>
                      </a:r>
                      <a:r>
                        <a:rPr lang="ko-KR" altLang="en-US" sz="1600" b="1">
                          <a:solidFill>
                            <a:srgbClr val="222B33"/>
                          </a:solidFill>
                          <a:latin typeface="맑은 고딕"/>
                          <a:ea typeface="맑은 고딕"/>
                        </a:rPr>
                        <a:t>로 조건 입력</a:t>
                      </a:r>
                    </a:p>
                  </a:txBody>
                  <a:tcPr marL="182880" anchor="ctr">
                    <a:solidFill>
                      <a:srgbClr val="E8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ko-KR" altLang="en-US" sz="1600" b="1">
                          <a:solidFill>
                            <a:srgbClr val="222B33"/>
                          </a:solidFill>
                          <a:latin typeface="맑은 고딕"/>
                          <a:ea typeface="맑은 고딕"/>
                        </a:rPr>
                        <a:t>추천 이유</a:t>
                      </a:r>
                    </a:p>
                  </a:txBody>
                  <a:tcPr marL="182880" anchor="ctr">
                    <a:solidFill>
                      <a:srgbClr val="E8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600" dirty="0">
                          <a:solidFill>
                            <a:srgbClr val="222B33"/>
                          </a:solidFill>
                          <a:latin typeface="맑은 고딕"/>
                          <a:ea typeface="맑은 고딕"/>
                        </a:rPr>
                        <a:t>추천 기능은 확인하지 못함</a:t>
                      </a:r>
                    </a:p>
                  </a:txBody>
                  <a:tcPr marL="18288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600" b="1" dirty="0">
                          <a:solidFill>
                            <a:srgbClr val="222B33"/>
                          </a:solidFill>
                          <a:latin typeface="맑은 고딕"/>
                          <a:ea typeface="맑은 고딕"/>
                        </a:rPr>
                        <a:t>데이터 값을 근거로 이유 설명</a:t>
                      </a:r>
                    </a:p>
                  </a:txBody>
                  <a:tcPr marL="182880" anchor="ctr">
                    <a:solidFill>
                      <a:srgbClr val="E8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9D80C9EF-3CC6-4ECC-9C2D-9D0396C96E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C2E4F50-06C6-AB8B-6899-3F22CAD9CF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528" y="384048"/>
            <a:ext cx="10140696" cy="1298448"/>
          </a:xfrm>
        </p:spPr>
        <p:txBody>
          <a:bodyPr anchor="ctr">
            <a:normAutofit/>
          </a:bodyPr>
          <a:lstStyle/>
          <a:p>
            <a:pPr algn="l"/>
            <a:r>
              <a:rPr kumimoji="1" lang="ko-KR" altLang="en-US" sz="4000" b="0" dirty="0">
                <a:solidFill>
                  <a:srgbClr val="222B33"/>
                </a:solidFill>
                <a:latin typeface="맑은 고딕"/>
                <a:ea typeface="맑은 고딕"/>
              </a:rPr>
              <a:t>데이터 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DA32751-37A2-45C0-BE94-63D375E27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내용 개체 틀 8">
            <a:extLst>
              <a:ext uri="{FF2B5EF4-FFF2-40B4-BE49-F238E27FC236}">
                <a16:creationId xmlns:a16="http://schemas.microsoft.com/office/drawing/2014/main" id="{2EDD530D-74DE-0EA2-94BD-EF4B13A25E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07150" y="2620675"/>
            <a:ext cx="4530725" cy="3596262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5A55FBCD-CD42-40F5-8A1B-3203F9CAEE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AE96D8BF-D9D9-F8A7-A50B-1A63E67130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934" y="2693854"/>
            <a:ext cx="4669747" cy="3609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1215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E20F14-7D68-ADD8-F69A-D21D9E710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데이터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B2777DA-1032-E906-1152-65C811BC02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71856" y="1825625"/>
            <a:ext cx="288438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ko-KR" altLang="en-US" sz="2000" dirty="0"/>
              <a:t>보육계획서를 </a:t>
            </a:r>
            <a:r>
              <a:rPr kumimoji="1" lang="en-US" altLang="ko-KR" sz="2000" dirty="0"/>
              <a:t>RAG</a:t>
            </a:r>
            <a:r>
              <a:rPr kumimoji="1" lang="ko-KR" altLang="en-US" sz="2000" dirty="0"/>
              <a:t> 방식으로 </a:t>
            </a:r>
            <a:r>
              <a:rPr kumimoji="1" lang="ko-KR" altLang="en-US" sz="2000" dirty="0" err="1"/>
              <a:t>어떤식으로</a:t>
            </a:r>
            <a:r>
              <a:rPr kumimoji="1" lang="ko-KR" altLang="en-US" sz="2000" dirty="0"/>
              <a:t> 사용할지 </a:t>
            </a:r>
            <a:r>
              <a:rPr kumimoji="1" lang="ko-KR" altLang="en-US" sz="2000" dirty="0" err="1"/>
              <a:t>구상중</a:t>
            </a:r>
            <a:endParaRPr kumimoji="1" lang="ko-KR" altLang="en-US" sz="20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D1C83A9-7028-7DA1-D642-F8DA5C46A9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499" y="1852546"/>
            <a:ext cx="7772400" cy="134721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68E96AE4-A6B8-3B3E-3347-56CC26CD9F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499" y="3508121"/>
            <a:ext cx="7772400" cy="2562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19202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4695F26-39DB-450E-B464-9C76CD233B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F42E55F-A297-474F-AF2D-6D3A15822B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9611" y="-1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6B48186-1BC5-B122-CC12-16925F77A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338328"/>
            <a:ext cx="5011473" cy="1773936"/>
          </a:xfrm>
        </p:spPr>
        <p:txBody>
          <a:bodyPr anchor="ctr">
            <a:normAutofit/>
          </a:bodyPr>
          <a:lstStyle/>
          <a:p>
            <a:pPr algn="l"/>
            <a:r>
              <a:rPr kumimoji="1" lang="ko-KR" altLang="en-US" sz="4000" b="0" dirty="0">
                <a:solidFill>
                  <a:srgbClr val="222B33"/>
                </a:solidFill>
                <a:latin typeface="맑은 고딕"/>
                <a:ea typeface="맑은 고딕"/>
              </a:rPr>
              <a:t>표로 만들 데이터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72070F7-E065-4D60-8938-9FB8CDB8AC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 flipH="1">
            <a:off x="-179919" y="170310"/>
            <a:ext cx="2514948" cy="2174333"/>
            <a:chOff x="-305" y="-4155"/>
            <a:chExt cx="2514948" cy="2174333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F672C03-E63A-4F6B-96BD-0C4E3F1B82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BB94CDF-5C33-4B0A-B53F-50762639C1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D3C92F9D-544D-4691-94A7-B937CF4BE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CA4DEE4-B7B4-47F4-A9C5-31AED8369A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EC7827B-207B-29BC-C110-39D55D1EA2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5641" y="338328"/>
            <a:ext cx="5029200" cy="1773936"/>
          </a:xfrm>
        </p:spPr>
        <p:txBody>
          <a:bodyPr anchor="ctr">
            <a:normAutofit/>
          </a:bodyPr>
          <a:lstStyle/>
          <a:p>
            <a:r>
              <a:rPr lang="ko-KR" altLang="en-US" sz="1800" dirty="0">
                <a:solidFill>
                  <a:schemeClr val="tx2"/>
                </a:solidFill>
                <a:latin typeface="맑은 고딕"/>
                <a:ea typeface="맑은 고딕"/>
              </a:rPr>
              <a:t>해당 데이터들은 직접 데이터를 다듬을 예정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2186A61-A82A-E1A8-DC6E-38891136D6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052" y="2829434"/>
            <a:ext cx="5888903" cy="297389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A73783AD-4B1F-F7B2-1068-B2B834D009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3536" y="3124598"/>
            <a:ext cx="5736798" cy="2423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5050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5528" y="384048"/>
            <a:ext cx="10140696" cy="1298448"/>
          </a:xfrm>
        </p:spPr>
        <p:txBody>
          <a:bodyPr anchor="ctr"/>
          <a:lstStyle/>
          <a:p>
            <a:pPr algn="l"/>
            <a:r>
              <a:rPr lang="ko-KR" altLang="en-US" sz="4000" b="0" dirty="0">
                <a:solidFill>
                  <a:srgbClr val="222B33"/>
                </a:solidFill>
                <a:latin typeface="맑은 고딕"/>
                <a:ea typeface="맑은 고딕"/>
              </a:rPr>
              <a:t>데이터 구조</a:t>
            </a:r>
            <a:endParaRPr sz="3600" dirty="0">
              <a:solidFill>
                <a:srgbClr val="222B33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212080" cy="2743200"/>
          </a:xfrm>
          <a:prstGeom prst="roundRect">
            <a:avLst>
              <a:gd name="adj" fmla="val 6000"/>
            </a:avLst>
          </a:prstGeom>
          <a:solidFill>
            <a:srgbClr val="E8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1600200"/>
            <a:ext cx="475488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B9AD6"/>
                </a:solidFill>
                <a:latin typeface="맑은 고딕"/>
                <a:ea typeface="맑은 고딕"/>
              </a:rPr>
              <a:t>① 기본 표 — 포털 SHEET / OPEN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148840"/>
            <a:ext cx="4754880" cy="19202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0">
                <a:solidFill>
                  <a:srgbClr val="222B33"/>
                </a:solidFill>
                <a:latin typeface="맑은 고딕"/>
                <a:ea typeface="맑은 고딕"/>
              </a:rPr>
              <a:t>시군구, 어린이집명, 유형, 운영현황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22B33"/>
                </a:solidFill>
                <a:latin typeface="맑은 고딕"/>
                <a:ea typeface="맑은 고딕"/>
              </a:rPr>
              <a:t>주소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22B33"/>
                </a:solidFill>
                <a:latin typeface="맑은 고딕"/>
                <a:ea typeface="맑은 고딕"/>
              </a:rPr>
              <a:t>정원 / 현원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22B33"/>
                </a:solidFill>
                <a:latin typeface="맑은 고딕"/>
                <a:ea typeface="맑은 고딕"/>
              </a:rPr>
              <a:t>연령별 아동 수, 교직원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22B33"/>
                </a:solidFill>
                <a:latin typeface="맑은 고딕"/>
                <a:ea typeface="맑은 고딕"/>
              </a:rPr>
              <a:t>통학차량 여부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2743200"/>
          </a:xfrm>
          <a:prstGeom prst="roundRect">
            <a:avLst>
              <a:gd name="adj" fmla="val 6000"/>
            </a:avLst>
          </a:prstGeom>
          <a:solidFill>
            <a:srgbClr val="FDF1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46520" y="1600200"/>
            <a:ext cx="475488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C26A12"/>
                </a:solidFill>
                <a:latin typeface="맑은 고딕"/>
                <a:ea typeface="맑은 고딕"/>
              </a:rPr>
              <a:t>② 추가 표 — 팀이 직접 수집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2148840"/>
            <a:ext cx="4754880" cy="19202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0">
                <a:solidFill>
                  <a:srgbClr val="222B33"/>
                </a:solidFill>
                <a:latin typeface="맑은 고딕"/>
                <a:ea typeface="맑은 고딕"/>
              </a:rPr>
              <a:t>운영시간, 제공서비스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22B33"/>
                </a:solidFill>
                <a:latin typeface="맑은 고딕"/>
                <a:ea typeface="맑은 고딕"/>
              </a:rPr>
              <a:t>연령별 반 수·아동 수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22B33"/>
                </a:solidFill>
                <a:latin typeface="맑은 고딕"/>
                <a:ea typeface="맑은 고딕"/>
              </a:rPr>
              <a:t>특별활동: 활동영역, 프로그램명, 주당 횟수, 1회 시간, 단가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22B33"/>
                </a:solidFill>
                <a:latin typeface="맑은 고딕"/>
                <a:ea typeface="맑은 고딕"/>
              </a:rPr>
              <a:t>수집일 (정보가 바뀔 수 있어 기록)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6760" y="4471147"/>
            <a:ext cx="1069848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222B33"/>
                </a:solidFill>
                <a:latin typeface="맑은 고딕"/>
                <a:ea typeface="맑은 고딕"/>
              </a:rPr>
              <a:t>두 표를 어린이집 기준으로 연결 → 사용자 조건 검색에 사용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F0DCC097-1DB8-4B6D-85D0-6FBA0E1C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E0B58608-23C8-4441-994D-C6823EEE1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DA41633-5DF7-45EC-080B-A13CBA9ED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528" y="384048"/>
            <a:ext cx="10140696" cy="129844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latinLnBrk="0"/>
            <a:r>
              <a:rPr kumimoji="1" lang="ko-KR" altLang="en-US" sz="4000" b="0" kern="1200" dirty="0">
                <a:solidFill>
                  <a:srgbClr val="222B33"/>
                </a:solidFill>
                <a:latin typeface="맑은 고딕"/>
                <a:ea typeface="맑은 고딕"/>
                <a:cs typeface="+mj-cs"/>
              </a:rPr>
              <a:t>지역 선정이유</a:t>
            </a:r>
            <a:r>
              <a:rPr kumimoji="1" lang="en-US" altLang="ko-KR" sz="4000" b="0" kern="1200" dirty="0">
                <a:solidFill>
                  <a:srgbClr val="222B33"/>
                </a:solidFill>
                <a:latin typeface="맑은 고딕"/>
                <a:ea typeface="맑은 고딕"/>
                <a:cs typeface="+mj-cs"/>
              </a:rPr>
              <a:t>(</a:t>
            </a:r>
            <a:r>
              <a:rPr kumimoji="1" lang="ko-KR" altLang="en-US" sz="4000" b="0" kern="1200" dirty="0">
                <a:solidFill>
                  <a:srgbClr val="222B33"/>
                </a:solidFill>
                <a:latin typeface="맑은 고딕"/>
                <a:ea typeface="맑은 고딕"/>
                <a:cs typeface="+mj-cs"/>
              </a:rPr>
              <a:t>동탄</a:t>
            </a:r>
            <a:r>
              <a:rPr kumimoji="1" lang="en-US" altLang="ko-KR" sz="4000" b="0" kern="1200" dirty="0">
                <a:solidFill>
                  <a:srgbClr val="222B33"/>
                </a:solidFill>
                <a:latin typeface="맑은 고딕"/>
                <a:ea typeface="맑은 고딕"/>
                <a:cs typeface="+mj-cs"/>
              </a:rPr>
              <a:t>)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822960" y="2468880"/>
          <a:ext cx="10515600" cy="3575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2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선정 이유</a:t>
                      </a:r>
                    </a:p>
                  </a:txBody>
                  <a:tcPr marL="182880" marR="182880" anchor="ctr">
                    <a:solidFill>
                      <a:srgbClr val="1B9A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근거</a:t>
                      </a:r>
                    </a:p>
                  </a:txBody>
                  <a:tcPr marL="182880" marR="182880" anchor="ctr">
                    <a:solidFill>
                      <a:srgbClr val="1B9A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출처</a:t>
                      </a:r>
                    </a:p>
                  </a:txBody>
                  <a:tcPr marL="182880" marR="182880" anchor="ctr">
                    <a:solidFill>
                      <a:srgbClr val="1B9A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4128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222B33"/>
                          </a:solidFill>
                          <a:latin typeface="맑은 고딕"/>
                          <a:ea typeface="맑은 고딕"/>
                        </a:rPr>
                        <a:t>1. 지역 경계가 명확하다</a:t>
                      </a:r>
                    </a:p>
                  </a:txBody>
                  <a:tcPr marL="182880" marR="182880" anchor="ctr">
                    <a:solidFill>
                      <a:srgbClr val="E8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B33"/>
                          </a:solidFill>
                          <a:latin typeface="맑은 고딕"/>
                          <a:ea typeface="맑은 고딕"/>
                        </a:rPr>
                        <a:t>2026년 2월 1일 화성시가 4개 구로 출범했고, 동탄구는 동탄1~9동입니다. 인구는 약 42만 2천 명(화성시의 42.7%)이라, 어린이집 주소를 "동탄구"로 걸러내면 대상이 정해집니다.</a:t>
                      </a:r>
                    </a:p>
                  </a:txBody>
                  <a:tcPr marL="182880" marR="18288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66707A"/>
                          </a:solidFill>
                          <a:latin typeface="맑은 고딕"/>
                          <a:ea typeface="맑은 고딕"/>
                        </a:rPr>
                        <a:t>경기일보</a:t>
                      </a:r>
                    </a:p>
                  </a:txBody>
                  <a:tcPr marL="182880" marR="18288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4128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222B33"/>
                          </a:solidFill>
                          <a:latin typeface="맑은 고딕"/>
                          <a:ea typeface="맑은 고딕"/>
                        </a:rPr>
                        <a:t>2. 아이가 밀집해 있다</a:t>
                      </a:r>
                    </a:p>
                  </a:txBody>
                  <a:tcPr marL="182880" marR="182880" anchor="ctr">
                    <a:solidFill>
                      <a:srgbClr val="E8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B33"/>
                          </a:solidFill>
                          <a:latin typeface="맑은 고딕"/>
                          <a:ea typeface="맑은 고딕"/>
                        </a:rPr>
                        <a:t>화성시 학령인구(7~18세) 비중은 13.9%로 경기도 31개 시·군 중 가장 높습니다. 동탄에만 학생이 72,084명이고, 올해 9월 초등학교 2곳이 개교했습니다.</a:t>
                      </a:r>
                    </a:p>
                  </a:txBody>
                  <a:tcPr marL="182880" marR="18288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66707A"/>
                          </a:solidFill>
                          <a:latin typeface="맑은 고딕"/>
                          <a:ea typeface="맑은 고딕"/>
                        </a:rPr>
                        <a:t>한국일보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66707A"/>
                          </a:solidFill>
                          <a:latin typeface="맑은 고딕"/>
                          <a:ea typeface="맑은 고딕"/>
                        </a:rPr>
                        <a:t>아시아경제</a:t>
                      </a:r>
                    </a:p>
                  </a:txBody>
                  <a:tcPr marL="182880" marR="18288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4128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222B33"/>
                          </a:solidFill>
                          <a:latin typeface="맑은 고딕"/>
                          <a:ea typeface="맑은 고딕"/>
                        </a:rPr>
                        <a:t>3. 어린이집 유형이 다양하다</a:t>
                      </a:r>
                    </a:p>
                  </a:txBody>
                  <a:tcPr marL="182880" marR="182880" anchor="ctr">
                    <a:solidFill>
                      <a:srgbClr val="E8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B33"/>
                          </a:solidFill>
                          <a:latin typeface="맑은 고딕"/>
                          <a:ea typeface="맑은 고딕"/>
                        </a:rPr>
                        <a:t>화성형 어린이집에 동탄4·6·8·9동이 포함되고, 화성시는 국공립 어린이집이 전국에서 가장 많습니다.</a:t>
                      </a:r>
                    </a:p>
                  </a:txBody>
                  <a:tcPr marL="182880" marR="18288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66707A"/>
                          </a:solidFill>
                          <a:latin typeface="맑은 고딕"/>
                          <a:ea typeface="맑은 고딕"/>
                        </a:rPr>
                        <a:t>화성시청</a:t>
                      </a:r>
                    </a:p>
                  </a:txBody>
                  <a:tcPr marL="182880" marR="18288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822960" y="6172200"/>
            <a:ext cx="1051560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66707A"/>
                </a:solidFill>
                <a:latin typeface="맑은 고딕"/>
                <a:ea typeface="맑은 고딕"/>
              </a:rPr>
              <a:t>범위: 동탄구 (동탄1~9동, 2026-02 신설)</a:t>
            </a:r>
          </a:p>
        </p:txBody>
      </p:sp>
    </p:spTree>
    <p:extLst>
      <p:ext uri="{BB962C8B-B14F-4D97-AF65-F5344CB8AC3E}">
        <p14:creationId xmlns:p14="http://schemas.microsoft.com/office/powerpoint/2010/main" val="40355260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5528" y="384048"/>
            <a:ext cx="10140696" cy="1298448"/>
          </a:xfrm>
        </p:spPr>
        <p:txBody>
          <a:bodyPr anchor="ctr"/>
          <a:lstStyle/>
          <a:p>
            <a:pPr algn="l"/>
            <a:r>
              <a:rPr sz="4000" b="0" dirty="0" err="1">
                <a:solidFill>
                  <a:srgbClr val="222B33"/>
                </a:solidFill>
                <a:latin typeface="맑은 고딕"/>
                <a:ea typeface="맑은 고딕"/>
              </a:rPr>
              <a:t>추천</a:t>
            </a:r>
            <a:r>
              <a:rPr sz="4000" b="0" dirty="0">
                <a:solidFill>
                  <a:srgbClr val="222B33"/>
                </a:solidFill>
                <a:latin typeface="맑은 고딕"/>
                <a:ea typeface="맑은 고딕"/>
              </a:rPr>
              <a:t> </a:t>
            </a:r>
            <a:r>
              <a:rPr sz="4000" b="0" dirty="0" err="1">
                <a:solidFill>
                  <a:srgbClr val="222B33"/>
                </a:solidFill>
                <a:latin typeface="맑은 고딕"/>
                <a:ea typeface="맑은 고딕"/>
              </a:rPr>
              <a:t>방식</a:t>
            </a:r>
            <a:r>
              <a:rPr sz="4000" b="0" dirty="0">
                <a:solidFill>
                  <a:srgbClr val="222B33"/>
                </a:solidFill>
                <a:latin typeface="맑은 고딕"/>
                <a:ea typeface="맑은 고딕"/>
              </a:rPr>
              <a:t> </a:t>
            </a:r>
            <a:r>
              <a:rPr sz="4000" b="0" dirty="0" err="1">
                <a:solidFill>
                  <a:srgbClr val="222B33"/>
                </a:solidFill>
                <a:latin typeface="맑은 고딕"/>
                <a:ea typeface="맑은 고딕"/>
              </a:rPr>
              <a:t>구상</a:t>
            </a:r>
            <a:endParaRPr sz="3600" dirty="0">
              <a:solidFill>
                <a:srgbClr val="222B33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920240" cy="2103120"/>
          </a:xfrm>
          <a:prstGeom prst="roundRect">
            <a:avLst>
              <a:gd name="adj" fmla="val 6000"/>
            </a:avLst>
          </a:prstGeom>
          <a:solidFill>
            <a:srgbClr val="E8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417320" y="1600200"/>
            <a:ext cx="548640" cy="548640"/>
          </a:xfrm>
          <a:prstGeom prst="ellipse">
            <a:avLst/>
          </a:prstGeom>
          <a:solidFill>
            <a:srgbClr val="1B9A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40280"/>
            <a:ext cx="192024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222B33"/>
                </a:solidFill>
                <a:latin typeface="맑은 고딕"/>
                <a:ea typeface="맑은 고딕"/>
              </a:rPr>
              <a:t>조건 파악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697480"/>
            <a:ext cx="1828800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66707A"/>
                </a:solidFill>
                <a:latin typeface="맑은 고딕"/>
                <a:ea typeface="맑은 고딕"/>
              </a:rPr>
              <a:t>AI가 대화로 조건 추출
부족하면 되묻기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1463040"/>
            <a:ext cx="1920240" cy="2103120"/>
          </a:xfrm>
          <a:prstGeom prst="roundRect">
            <a:avLst>
              <a:gd name="adj" fmla="val 6000"/>
            </a:avLst>
          </a:prstGeom>
          <a:solidFill>
            <a:srgbClr val="E8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3611880" y="1600200"/>
            <a:ext cx="548640" cy="548640"/>
          </a:xfrm>
          <a:prstGeom prst="ellipse">
            <a:avLst/>
          </a:prstGeom>
          <a:solidFill>
            <a:srgbClr val="1B9A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2240280"/>
            <a:ext cx="192024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222B33"/>
                </a:solidFill>
                <a:latin typeface="맑은 고딕"/>
                <a:ea typeface="맑은 고딕"/>
              </a:rPr>
              <a:t>걸러내기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2697480"/>
            <a:ext cx="1828800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66707A"/>
                </a:solidFill>
                <a:latin typeface="맑은 고딕"/>
                <a:ea typeface="맑은 고딕"/>
              </a:rPr>
              <a:t>조건에 안 맞는 곳
제외 (DB 조회)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20640" y="1463040"/>
            <a:ext cx="1920240" cy="2103120"/>
          </a:xfrm>
          <a:prstGeom prst="roundRect">
            <a:avLst>
              <a:gd name="adj" fmla="val 6000"/>
            </a:avLst>
          </a:prstGeom>
          <a:solidFill>
            <a:srgbClr val="E8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806440" y="1600200"/>
            <a:ext cx="548640" cy="548640"/>
          </a:xfrm>
          <a:prstGeom prst="ellipse">
            <a:avLst/>
          </a:prstGeom>
          <a:solidFill>
            <a:srgbClr val="1B9A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2240280"/>
            <a:ext cx="192024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222B33"/>
                </a:solidFill>
                <a:latin typeface="맑은 고딕"/>
                <a:ea typeface="맑은 고딕"/>
              </a:rPr>
              <a:t>정렬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6359" y="2697480"/>
            <a:ext cx="1828800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66707A"/>
                </a:solidFill>
                <a:latin typeface="맑은 고딕"/>
                <a:ea typeface="맑은 고딕"/>
              </a:rPr>
              <a:t>우선순위에 따라
순서 정하기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199" y="1463040"/>
            <a:ext cx="1920240" cy="2103120"/>
          </a:xfrm>
          <a:prstGeom prst="roundRect">
            <a:avLst>
              <a:gd name="adj" fmla="val 6000"/>
            </a:avLst>
          </a:prstGeom>
          <a:solidFill>
            <a:srgbClr val="FDF1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001000" y="1600200"/>
            <a:ext cx="548640" cy="548640"/>
          </a:xfrm>
          <a:prstGeom prst="ellipse">
            <a:avLst/>
          </a:prstGeom>
          <a:solidFill>
            <a:srgbClr val="1B9A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199" y="2240280"/>
            <a:ext cx="192024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222B33"/>
                </a:solidFill>
                <a:latin typeface="맑은 고딕"/>
                <a:ea typeface="맑은 고딕"/>
              </a:rPr>
              <a:t>이유 초안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60919" y="2697480"/>
            <a:ext cx="1739538" cy="506805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 dirty="0" err="1">
                <a:solidFill>
                  <a:srgbClr val="66707A"/>
                </a:solidFill>
                <a:latin typeface="맑은 고딕"/>
                <a:ea typeface="맑은 고딕"/>
              </a:rPr>
              <a:t>데이터</a:t>
            </a:r>
            <a:r>
              <a:rPr sz="1300" b="0" dirty="0">
                <a:solidFill>
                  <a:srgbClr val="66707A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66707A"/>
                </a:solidFill>
                <a:latin typeface="맑은 고딕"/>
                <a:ea typeface="맑은 고딕"/>
              </a:rPr>
              <a:t>값을</a:t>
            </a:r>
            <a:r>
              <a:rPr sz="1300" b="0" dirty="0">
                <a:solidFill>
                  <a:srgbClr val="66707A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66707A"/>
                </a:solidFill>
                <a:latin typeface="맑은 고딕"/>
                <a:ea typeface="맑은 고딕"/>
              </a:rPr>
              <a:t>인용해</a:t>
            </a:r>
            <a:r>
              <a:rPr sz="1300" b="0" dirty="0">
                <a:solidFill>
                  <a:srgbClr val="66707A"/>
                </a:solidFill>
                <a:latin typeface="맑은 고딕"/>
                <a:ea typeface="맑은 고딕"/>
              </a:rPr>
              <a:t>
</a:t>
            </a:r>
            <a:r>
              <a:rPr sz="1300" b="0" dirty="0" err="1">
                <a:solidFill>
                  <a:srgbClr val="66707A"/>
                </a:solidFill>
                <a:latin typeface="맑은 고딕"/>
                <a:ea typeface="맑은 고딕"/>
              </a:rPr>
              <a:t>설명</a:t>
            </a:r>
            <a:r>
              <a:rPr sz="1300" b="0" dirty="0">
                <a:solidFill>
                  <a:srgbClr val="66707A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66707A"/>
                </a:solidFill>
                <a:latin typeface="맑은 고딕"/>
                <a:ea typeface="맑은 고딕"/>
              </a:rPr>
              <a:t>초안</a:t>
            </a:r>
            <a:r>
              <a:rPr sz="1300" b="0" dirty="0">
                <a:solidFill>
                  <a:srgbClr val="66707A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66707A"/>
                </a:solidFill>
                <a:latin typeface="맑은 고딕"/>
                <a:ea typeface="맑은 고딕"/>
              </a:rPr>
              <a:t>작성</a:t>
            </a:r>
            <a:endParaRPr sz="1300" b="0" dirty="0">
              <a:solidFill>
                <a:srgbClr val="66707A"/>
              </a:solidFill>
              <a:latin typeface="맑은 고딕"/>
              <a:ea typeface="맑은 고딕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9509760" y="1463040"/>
            <a:ext cx="1920240" cy="2103120"/>
          </a:xfrm>
          <a:prstGeom prst="roundRect">
            <a:avLst>
              <a:gd name="adj" fmla="val 6000"/>
            </a:avLst>
          </a:prstGeom>
          <a:solidFill>
            <a:srgbClr val="FDF1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0195560" y="1600200"/>
            <a:ext cx="548640" cy="548640"/>
          </a:xfrm>
          <a:prstGeom prst="ellipse">
            <a:avLst/>
          </a:prstGeom>
          <a:solidFill>
            <a:srgbClr val="1B9A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0" y="2240280"/>
            <a:ext cx="192024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222B33"/>
                </a:solidFill>
                <a:latin typeface="맑은 고딕"/>
                <a:ea typeface="맑은 고딕"/>
              </a:rPr>
              <a:t>숫자 검증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55480" y="2697480"/>
            <a:ext cx="1828800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66707A"/>
                </a:solidFill>
                <a:latin typeface="맑은 고딕"/>
                <a:ea typeface="맑은 고딕"/>
              </a:rPr>
              <a:t>코드가 초안 속 숫자를
데이터와 대조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1760" y="2286000"/>
            <a:ext cx="27432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66707A"/>
                </a:solidFill>
                <a:latin typeface="맑은 고딕"/>
                <a:ea typeface="맑은 고딕"/>
              </a:rPr>
              <a:t>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2286000"/>
            <a:ext cx="27432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66707A"/>
                </a:solidFill>
                <a:latin typeface="맑은 고딕"/>
                <a:ea typeface="맑은 고딕"/>
              </a:rPr>
              <a:t>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79" y="2286000"/>
            <a:ext cx="27432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66707A"/>
                </a:solidFill>
                <a:latin typeface="맑은 고딕"/>
                <a:ea typeface="맑은 고딕"/>
              </a:rPr>
              <a:t>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2286000"/>
            <a:ext cx="27432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66707A"/>
                </a:solidFill>
                <a:latin typeface="맑은 고딕"/>
                <a:ea typeface="맑은 고딕"/>
              </a:rPr>
              <a:t>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3657600"/>
            <a:ext cx="1069848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C26A12"/>
                </a:solidFill>
                <a:latin typeface="맑은 고딕"/>
                <a:ea typeface="맑은 고딕"/>
              </a:rPr>
              <a:t>통과한 설명만 사용자에게 전달  |  불일치하면 4단계로 돌아가 다시 작성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023360"/>
            <a:ext cx="1069848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1B9AD6"/>
                </a:solidFill>
                <a:latin typeface="맑은 고딕"/>
                <a:ea typeface="맑은 고딕"/>
              </a:rPr>
              <a:t>핵심: AI가 '좋은 어린이집'을 판단하지 않고, 사용자가 말한 조건에 맞는지만 확인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4526280"/>
            <a:ext cx="106984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14400" y="4572000"/>
            <a:ext cx="36576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66707A"/>
                </a:solidFill>
                <a:latin typeface="맑은 고딕"/>
                <a:ea typeface="맑은 고딕"/>
              </a:rPr>
              <a:t>대화 예시 (가상)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45383"/>
            <a:ext cx="10469880" cy="95308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 dirty="0" err="1">
                <a:solidFill>
                  <a:srgbClr val="222B33"/>
                </a:solidFill>
                <a:latin typeface="맑은 고딕"/>
                <a:ea typeface="맑은 고딕"/>
              </a:rPr>
              <a:t>사용자</a:t>
            </a:r>
            <a:r>
              <a:rPr sz="1500" b="0" dirty="0">
                <a:solidFill>
                  <a:srgbClr val="222B33"/>
                </a:solidFill>
                <a:latin typeface="맑은 고딕"/>
                <a:ea typeface="맑은 고딕"/>
              </a:rPr>
              <a:t>:  5살 </a:t>
            </a:r>
            <a:r>
              <a:rPr sz="1500" b="0" dirty="0" err="1">
                <a:solidFill>
                  <a:srgbClr val="222B33"/>
                </a:solidFill>
                <a:latin typeface="맑은 고딕"/>
                <a:ea typeface="맑은 고딕"/>
              </a:rPr>
              <a:t>아이인데</a:t>
            </a:r>
            <a:r>
              <a:rPr sz="1500" b="0" dirty="0">
                <a:solidFill>
                  <a:srgbClr val="222B33"/>
                </a:solidFill>
                <a:latin typeface="맑은 고딕"/>
                <a:ea typeface="맑은 고딕"/>
              </a:rPr>
              <a:t>, </a:t>
            </a:r>
            <a:r>
              <a:rPr sz="1500" b="0" dirty="0" err="1">
                <a:solidFill>
                  <a:srgbClr val="222B33"/>
                </a:solidFill>
                <a:latin typeface="맑은 고딕"/>
                <a:ea typeface="맑은 고딕"/>
              </a:rPr>
              <a:t>통학차량을</a:t>
            </a:r>
            <a:r>
              <a:rPr sz="1500" b="0" dirty="0">
                <a:solidFill>
                  <a:srgbClr val="222B33"/>
                </a:solidFill>
                <a:latin typeface="맑은 고딕"/>
                <a:ea typeface="맑은 고딕"/>
              </a:rPr>
              <a:t> </a:t>
            </a:r>
            <a:r>
              <a:rPr sz="1500" b="0" dirty="0" err="1">
                <a:solidFill>
                  <a:srgbClr val="222B33"/>
                </a:solidFill>
                <a:latin typeface="맑은 고딕"/>
                <a:ea typeface="맑은 고딕"/>
              </a:rPr>
              <a:t>운행하는</a:t>
            </a:r>
            <a:r>
              <a:rPr sz="1500" b="0" dirty="0">
                <a:solidFill>
                  <a:srgbClr val="222B33"/>
                </a:solidFill>
                <a:latin typeface="맑은 고딕"/>
                <a:ea typeface="맑은 고딕"/>
              </a:rPr>
              <a:t> </a:t>
            </a:r>
            <a:r>
              <a:rPr sz="1500" b="0" dirty="0" err="1">
                <a:solidFill>
                  <a:srgbClr val="222B33"/>
                </a:solidFill>
                <a:latin typeface="맑은 고딕"/>
                <a:ea typeface="맑은 고딕"/>
              </a:rPr>
              <a:t>국공립</a:t>
            </a:r>
            <a:r>
              <a:rPr sz="1500" b="0" dirty="0">
                <a:solidFill>
                  <a:srgbClr val="222B33"/>
                </a:solidFill>
                <a:latin typeface="맑은 고딕"/>
                <a:ea typeface="맑은 고딕"/>
              </a:rPr>
              <a:t> </a:t>
            </a:r>
            <a:r>
              <a:rPr sz="1500" b="0" dirty="0" err="1">
                <a:solidFill>
                  <a:srgbClr val="222B33"/>
                </a:solidFill>
                <a:latin typeface="맑은 고딕"/>
                <a:ea typeface="맑은 고딕"/>
              </a:rPr>
              <a:t>어린이집이면</a:t>
            </a:r>
            <a:r>
              <a:rPr sz="1500" b="0" dirty="0">
                <a:solidFill>
                  <a:srgbClr val="222B33"/>
                </a:solidFill>
                <a:latin typeface="맑은 고딕"/>
                <a:ea typeface="맑은 고딕"/>
              </a:rPr>
              <a:t> </a:t>
            </a:r>
            <a:r>
              <a:rPr sz="1500" b="0" dirty="0" err="1">
                <a:solidFill>
                  <a:srgbClr val="222B33"/>
                </a:solidFill>
                <a:latin typeface="맑은 고딕"/>
                <a:ea typeface="맑은 고딕"/>
              </a:rPr>
              <a:t>좋겠어요</a:t>
            </a:r>
            <a:r>
              <a:rPr sz="1500" b="0" dirty="0">
                <a:solidFill>
                  <a:srgbClr val="222B33"/>
                </a:solidFill>
                <a:latin typeface="맑은 고딕"/>
                <a:ea typeface="맑은 고딕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1500" b="0" dirty="0" err="1">
                <a:solidFill>
                  <a:srgbClr val="222B33"/>
                </a:solidFill>
                <a:latin typeface="맑은 고딕"/>
                <a:ea typeface="맑은 고딕"/>
              </a:rPr>
              <a:t>챗봇</a:t>
            </a:r>
            <a:r>
              <a:rPr sz="1500" b="0" dirty="0">
                <a:solidFill>
                  <a:srgbClr val="222B33"/>
                </a:solidFill>
                <a:latin typeface="맑은 고딕"/>
                <a:ea typeface="맑은 고딕"/>
              </a:rPr>
              <a:t>:  '5세 / </a:t>
            </a:r>
            <a:r>
              <a:rPr sz="1500" b="0" dirty="0" err="1">
                <a:solidFill>
                  <a:srgbClr val="222B33"/>
                </a:solidFill>
                <a:latin typeface="맑은 고딕"/>
                <a:ea typeface="맑은 고딕"/>
              </a:rPr>
              <a:t>국공립</a:t>
            </a:r>
            <a:r>
              <a:rPr sz="1500" b="0" dirty="0">
                <a:solidFill>
                  <a:srgbClr val="222B33"/>
                </a:solidFill>
                <a:latin typeface="맑은 고딕"/>
                <a:ea typeface="맑은 고딕"/>
              </a:rPr>
              <a:t> / </a:t>
            </a:r>
            <a:r>
              <a:rPr sz="1500" b="0" dirty="0" err="1">
                <a:solidFill>
                  <a:srgbClr val="222B33"/>
                </a:solidFill>
                <a:latin typeface="맑은 고딕"/>
                <a:ea typeface="맑은 고딕"/>
              </a:rPr>
              <a:t>통학차량</a:t>
            </a:r>
            <a:r>
              <a:rPr sz="1500" b="0" dirty="0">
                <a:solidFill>
                  <a:srgbClr val="222B33"/>
                </a:solidFill>
                <a:latin typeface="맑은 고딕"/>
                <a:ea typeface="맑은 고딕"/>
              </a:rPr>
              <a:t> </a:t>
            </a:r>
            <a:r>
              <a:rPr sz="1500" b="0" dirty="0" err="1">
                <a:solidFill>
                  <a:srgbClr val="222B33"/>
                </a:solidFill>
                <a:latin typeface="맑은 고딕"/>
                <a:ea typeface="맑은 고딕"/>
              </a:rPr>
              <a:t>운행</a:t>
            </a:r>
            <a:r>
              <a:rPr sz="1500" b="0" dirty="0">
                <a:solidFill>
                  <a:srgbClr val="222B33"/>
                </a:solidFill>
                <a:latin typeface="맑은 고딕"/>
                <a:ea typeface="맑은 고딕"/>
              </a:rPr>
              <a:t>' </a:t>
            </a:r>
            <a:r>
              <a:rPr sz="1500" b="0" dirty="0" err="1">
                <a:solidFill>
                  <a:srgbClr val="222B33"/>
                </a:solidFill>
                <a:latin typeface="맑은 고딕"/>
                <a:ea typeface="맑은 고딕"/>
              </a:rPr>
              <a:t>조건으로</a:t>
            </a:r>
            <a:r>
              <a:rPr sz="1500" b="0" dirty="0">
                <a:solidFill>
                  <a:srgbClr val="222B33"/>
                </a:solidFill>
                <a:latin typeface="맑은 고딕"/>
                <a:ea typeface="맑은 고딕"/>
              </a:rPr>
              <a:t> </a:t>
            </a:r>
            <a:r>
              <a:rPr sz="1500" b="0" dirty="0" err="1">
                <a:solidFill>
                  <a:srgbClr val="222B33"/>
                </a:solidFill>
                <a:latin typeface="맑은 고딕"/>
                <a:ea typeface="맑은 고딕"/>
              </a:rPr>
              <a:t>찾았어요</a:t>
            </a:r>
            <a:r>
              <a:rPr sz="1500" b="0" dirty="0">
                <a:solidFill>
                  <a:srgbClr val="222B33"/>
                </a:solidFill>
                <a:latin typeface="맑은 고딕"/>
                <a:ea typeface="맑은 고딕"/>
              </a:rPr>
              <a:t>.</a:t>
            </a:r>
          </a:p>
          <a:p>
            <a:pPr algn="l">
              <a:spcAft>
                <a:spcPts val="0"/>
              </a:spcAft>
            </a:pPr>
            <a:r>
              <a:rPr sz="1500" b="0" dirty="0">
                <a:solidFill>
                  <a:srgbClr val="222B33"/>
                </a:solidFill>
                <a:latin typeface="맑은 고딕"/>
                <a:ea typeface="맑은 고딕"/>
              </a:rPr>
              <a:t>           ○○</a:t>
            </a:r>
            <a:r>
              <a:rPr sz="1500" b="0" dirty="0" err="1">
                <a:solidFill>
                  <a:srgbClr val="222B33"/>
                </a:solidFill>
                <a:latin typeface="맑은 고딕"/>
                <a:ea typeface="맑은 고딕"/>
              </a:rPr>
              <a:t>어린이집</a:t>
            </a:r>
            <a:r>
              <a:rPr sz="1500" b="0" dirty="0">
                <a:solidFill>
                  <a:srgbClr val="222B33"/>
                </a:solidFill>
                <a:latin typeface="맑은 고딕"/>
                <a:ea typeface="맑은 고딕"/>
              </a:rPr>
              <a:t> — </a:t>
            </a:r>
            <a:r>
              <a:rPr sz="1500" b="0" dirty="0" err="1">
                <a:solidFill>
                  <a:srgbClr val="222B33"/>
                </a:solidFill>
                <a:latin typeface="맑은 고딕"/>
                <a:ea typeface="맑은 고딕"/>
              </a:rPr>
              <a:t>국공립</a:t>
            </a:r>
            <a:r>
              <a:rPr sz="1500" b="0" dirty="0">
                <a:solidFill>
                  <a:srgbClr val="222B33"/>
                </a:solidFill>
                <a:latin typeface="맑은 고딕"/>
                <a:ea typeface="맑은 고딕"/>
              </a:rPr>
              <a:t>, </a:t>
            </a:r>
            <a:r>
              <a:rPr sz="1500" b="0" dirty="0" err="1">
                <a:solidFill>
                  <a:srgbClr val="222B33"/>
                </a:solidFill>
                <a:latin typeface="맑은 고딕"/>
                <a:ea typeface="맑은 고딕"/>
              </a:rPr>
              <a:t>통학차량</a:t>
            </a:r>
            <a:r>
              <a:rPr sz="1500" b="0" dirty="0">
                <a:solidFill>
                  <a:srgbClr val="222B33"/>
                </a:solidFill>
                <a:latin typeface="맑은 고딕"/>
                <a:ea typeface="맑은 고딕"/>
              </a:rPr>
              <a:t> </a:t>
            </a:r>
            <a:r>
              <a:rPr sz="1500" b="0" dirty="0" err="1">
                <a:solidFill>
                  <a:srgbClr val="222B33"/>
                </a:solidFill>
                <a:latin typeface="맑은 고딕"/>
                <a:ea typeface="맑은 고딕"/>
              </a:rPr>
              <a:t>운영</a:t>
            </a:r>
            <a:r>
              <a:rPr sz="1500" b="0" dirty="0">
                <a:solidFill>
                  <a:srgbClr val="222B33"/>
                </a:solidFill>
                <a:latin typeface="맑은 고딕"/>
                <a:ea typeface="맑은 고딕"/>
              </a:rPr>
              <a:t> (</a:t>
            </a:r>
            <a:r>
              <a:rPr sz="1500" b="0" dirty="0" err="1">
                <a:solidFill>
                  <a:srgbClr val="222B33"/>
                </a:solidFill>
                <a:latin typeface="맑은 고딕"/>
                <a:ea typeface="맑은 고딕"/>
              </a:rPr>
              <a:t>포털</a:t>
            </a:r>
            <a:r>
              <a:rPr sz="1500" b="0" dirty="0">
                <a:solidFill>
                  <a:srgbClr val="222B33"/>
                </a:solidFill>
                <a:latin typeface="맑은 고딕"/>
                <a:ea typeface="맑은 고딕"/>
              </a:rPr>
              <a:t> </a:t>
            </a:r>
            <a:r>
              <a:rPr sz="1500" b="0" dirty="0" err="1">
                <a:solidFill>
                  <a:srgbClr val="222B33"/>
                </a:solidFill>
                <a:latin typeface="맑은 고딕"/>
                <a:ea typeface="맑은 고딕"/>
              </a:rPr>
              <a:t>데이터</a:t>
            </a:r>
            <a:r>
              <a:rPr sz="1500" b="0" dirty="0">
                <a:solidFill>
                  <a:srgbClr val="222B33"/>
                </a:solidFill>
                <a:latin typeface="맑은 고딕"/>
                <a:ea typeface="맑은 고딕"/>
              </a:rPr>
              <a:t> </a:t>
            </a:r>
            <a:r>
              <a:rPr sz="1500" b="0" dirty="0" err="1">
                <a:solidFill>
                  <a:srgbClr val="222B33"/>
                </a:solidFill>
                <a:latin typeface="맑은 고딕"/>
                <a:ea typeface="맑은 고딕"/>
              </a:rPr>
              <a:t>기준</a:t>
            </a:r>
            <a:r>
              <a:rPr sz="1500" b="0" dirty="0">
                <a:solidFill>
                  <a:srgbClr val="222B33"/>
                </a:solidFill>
                <a:latin typeface="맑은 고딕"/>
                <a:ea typeface="맑은 고딕"/>
              </a:rPr>
              <a:t>). </a:t>
            </a:r>
            <a:r>
              <a:rPr sz="1500" b="0" dirty="0" err="1">
                <a:solidFill>
                  <a:srgbClr val="222B33"/>
                </a:solidFill>
                <a:latin typeface="맑은 고딕"/>
                <a:ea typeface="맑은 고딕"/>
              </a:rPr>
              <a:t>정확한</a:t>
            </a:r>
            <a:r>
              <a:rPr sz="1500" b="0" dirty="0">
                <a:solidFill>
                  <a:srgbClr val="222B33"/>
                </a:solidFill>
                <a:latin typeface="맑은 고딕"/>
                <a:ea typeface="맑은 고딕"/>
              </a:rPr>
              <a:t> </a:t>
            </a:r>
            <a:r>
              <a:rPr sz="1500" b="0" dirty="0" err="1">
                <a:solidFill>
                  <a:srgbClr val="222B33"/>
                </a:solidFill>
                <a:latin typeface="맑은 고딕"/>
                <a:ea typeface="맑은 고딕"/>
              </a:rPr>
              <a:t>입소</a:t>
            </a:r>
            <a:r>
              <a:rPr sz="1500" b="0" dirty="0">
                <a:solidFill>
                  <a:srgbClr val="222B33"/>
                </a:solidFill>
                <a:latin typeface="맑은 고딕"/>
                <a:ea typeface="맑은 고딕"/>
              </a:rPr>
              <a:t> </a:t>
            </a:r>
            <a:r>
              <a:rPr sz="1500" b="0" dirty="0" err="1">
                <a:solidFill>
                  <a:srgbClr val="222B33"/>
                </a:solidFill>
                <a:latin typeface="맑은 고딕"/>
                <a:ea typeface="맑은 고딕"/>
              </a:rPr>
              <a:t>가능</a:t>
            </a:r>
            <a:r>
              <a:rPr sz="1500" b="0" dirty="0">
                <a:solidFill>
                  <a:srgbClr val="222B33"/>
                </a:solidFill>
                <a:latin typeface="맑은 고딕"/>
                <a:ea typeface="맑은 고딕"/>
              </a:rPr>
              <a:t> </a:t>
            </a:r>
            <a:r>
              <a:rPr sz="1500" b="0" dirty="0" err="1">
                <a:solidFill>
                  <a:srgbClr val="222B33"/>
                </a:solidFill>
                <a:latin typeface="맑은 고딕"/>
                <a:ea typeface="맑은 고딕"/>
              </a:rPr>
              <a:t>여부는</a:t>
            </a:r>
            <a:r>
              <a:rPr sz="1500" b="0" dirty="0">
                <a:solidFill>
                  <a:srgbClr val="222B33"/>
                </a:solidFill>
                <a:latin typeface="맑은 고딕"/>
                <a:ea typeface="맑은 고딕"/>
              </a:rPr>
              <a:t> </a:t>
            </a:r>
            <a:r>
              <a:rPr sz="1500" b="0" dirty="0" err="1">
                <a:solidFill>
                  <a:srgbClr val="222B33"/>
                </a:solidFill>
                <a:latin typeface="맑은 고딕"/>
                <a:ea typeface="맑은 고딕"/>
              </a:rPr>
              <a:t>어린이집에</a:t>
            </a:r>
            <a:r>
              <a:rPr sz="1500" b="0" dirty="0">
                <a:solidFill>
                  <a:srgbClr val="222B33"/>
                </a:solidFill>
                <a:latin typeface="맑은 고딕"/>
                <a:ea typeface="맑은 고딕"/>
              </a:rPr>
              <a:t> </a:t>
            </a:r>
            <a:r>
              <a:rPr sz="1500" b="0" dirty="0" err="1">
                <a:solidFill>
                  <a:srgbClr val="222B33"/>
                </a:solidFill>
                <a:latin typeface="맑은 고딕"/>
                <a:ea typeface="맑은 고딕"/>
              </a:rPr>
              <a:t>확인해</a:t>
            </a:r>
            <a:r>
              <a:rPr sz="1500" b="0" dirty="0">
                <a:solidFill>
                  <a:srgbClr val="222B33"/>
                </a:solidFill>
                <a:latin typeface="맑은 고딕"/>
                <a:ea typeface="맑은 고딕"/>
              </a:rPr>
              <a:t> </a:t>
            </a:r>
            <a:r>
              <a:rPr sz="1500" b="0" dirty="0" err="1">
                <a:solidFill>
                  <a:srgbClr val="222B33"/>
                </a:solidFill>
                <a:latin typeface="맑은 고딕"/>
                <a:ea typeface="맑은 고딕"/>
              </a:rPr>
              <a:t>주세요</a:t>
            </a:r>
            <a:r>
              <a:rPr sz="1500" b="0" dirty="0">
                <a:solidFill>
                  <a:srgbClr val="222B33"/>
                </a:solidFill>
                <a:latin typeface="맑은 고딕"/>
                <a:ea typeface="맑은 고딕"/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5528" y="384048"/>
            <a:ext cx="10140696" cy="1298448"/>
          </a:xfrm>
        </p:spPr>
        <p:txBody>
          <a:bodyPr anchor="ctr"/>
          <a:lstStyle/>
          <a:p>
            <a:pPr algn="l"/>
            <a:r>
              <a:rPr sz="4000" b="0" dirty="0" err="1">
                <a:solidFill>
                  <a:srgbClr val="222B33"/>
                </a:solidFill>
                <a:latin typeface="맑은 고딕"/>
                <a:ea typeface="맑은 고딕"/>
              </a:rPr>
              <a:t>현재</a:t>
            </a:r>
            <a:r>
              <a:rPr sz="4000" b="0" dirty="0">
                <a:solidFill>
                  <a:srgbClr val="222B33"/>
                </a:solidFill>
                <a:latin typeface="맑은 고딕"/>
                <a:ea typeface="맑은 고딕"/>
              </a:rPr>
              <a:t> </a:t>
            </a:r>
            <a:r>
              <a:rPr sz="4000" b="0" dirty="0" err="1">
                <a:solidFill>
                  <a:srgbClr val="222B33"/>
                </a:solidFill>
                <a:latin typeface="맑은 고딕"/>
                <a:ea typeface="맑은 고딕"/>
              </a:rPr>
              <a:t>단계와</a:t>
            </a:r>
            <a:r>
              <a:rPr sz="4000" b="0" dirty="0">
                <a:solidFill>
                  <a:srgbClr val="222B33"/>
                </a:solidFill>
                <a:latin typeface="맑은 고딕"/>
                <a:ea typeface="맑은 고딕"/>
              </a:rPr>
              <a:t> </a:t>
            </a:r>
            <a:r>
              <a:rPr sz="4000" b="0" dirty="0" err="1">
                <a:solidFill>
                  <a:srgbClr val="222B33"/>
                </a:solidFill>
                <a:latin typeface="맑은 고딕"/>
                <a:ea typeface="맑은 고딕"/>
              </a:rPr>
              <a:t>앞으로의</a:t>
            </a:r>
            <a:r>
              <a:rPr sz="4000" b="0" dirty="0">
                <a:solidFill>
                  <a:srgbClr val="222B33"/>
                </a:solidFill>
                <a:latin typeface="맑은 고딕"/>
                <a:ea typeface="맑은 고딕"/>
              </a:rPr>
              <a:t> </a:t>
            </a:r>
            <a:r>
              <a:rPr sz="4000" b="0" dirty="0" err="1">
                <a:solidFill>
                  <a:srgbClr val="222B33"/>
                </a:solidFill>
                <a:latin typeface="맑은 고딕"/>
                <a:ea typeface="맑은 고딕"/>
              </a:rPr>
              <a:t>계획</a:t>
            </a:r>
            <a:endParaRPr sz="3600" dirty="0">
              <a:solidFill>
                <a:srgbClr val="222B33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21208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05840" y="1828800"/>
            <a:ext cx="4663440" cy="640080"/>
          </a:xfrm>
          <a:prstGeom prst="roundRect">
            <a:avLst>
              <a:gd name="adj" fmla="val 6000"/>
            </a:avLst>
          </a:prstGeom>
          <a:solidFill>
            <a:srgbClr val="1B9A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663440" cy="6400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맑은 고딕"/>
                <a:ea typeface="맑은 고딕"/>
              </a:rPr>
              <a:t>구상한 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4480560" cy="164591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800" b="0">
                <a:solidFill>
                  <a:srgbClr val="222B33"/>
                </a:solidFill>
                <a:latin typeface="맑은 고딕"/>
                <a:ea typeface="맑은 고딕"/>
              </a:rPr>
              <a:t>✓  주제: 맞춤 어린이집 추천 챗봇</a:t>
            </a:r>
          </a:p>
          <a:p>
            <a:pPr algn="l">
              <a:spcAft>
                <a:spcPts val="1400"/>
              </a:spcAft>
            </a:pPr>
            <a:r>
              <a:rPr sz="1800" b="0">
                <a:solidFill>
                  <a:srgbClr val="222B33"/>
                </a:solidFill>
                <a:latin typeface="맑은 고딕"/>
                <a:ea typeface="맑은 고딕"/>
              </a:rPr>
              <a:t>✓  지역: 동탄구</a:t>
            </a:r>
          </a:p>
          <a:p>
            <a:pPr algn="l">
              <a:spcAft>
                <a:spcPts val="1400"/>
              </a:spcAft>
            </a:pPr>
            <a:r>
              <a:rPr sz="1800" b="0">
                <a:solidFill>
                  <a:srgbClr val="222B33"/>
                </a:solidFill>
                <a:latin typeface="맑은 고딕"/>
                <a:ea typeface="맑은 고딕"/>
              </a:rPr>
              <a:t>✓  데이터: 기본 표 + 직접 수집 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21208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492240" y="1828800"/>
            <a:ext cx="4663440" cy="640080"/>
          </a:xfrm>
          <a:prstGeom prst="roundRect">
            <a:avLst>
              <a:gd name="adj" fmla="val 6000"/>
            </a:avLst>
          </a:prstGeom>
          <a:solidFill>
            <a:srgbClr val="C26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4663440" cy="6400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맑은 고딕"/>
                <a:ea typeface="맑은 고딕"/>
              </a:rPr>
              <a:t>확인할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743200"/>
            <a:ext cx="4480560" cy="164591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800" b="0">
                <a:solidFill>
                  <a:srgbClr val="222B33"/>
                </a:solidFill>
                <a:latin typeface="맑은 고딕"/>
                <a:ea typeface="맑은 고딕"/>
              </a:rPr>
              <a:t>?  추가적인 데이터 찾기 및 기존의 데이터의 적합성 확인하기</a:t>
            </a:r>
          </a:p>
          <a:p>
            <a:pPr algn="l">
              <a:spcAft>
                <a:spcPts val="1400"/>
              </a:spcAft>
            </a:pPr>
            <a:r>
              <a:rPr sz="1800" b="0">
                <a:solidFill>
                  <a:srgbClr val="222B33"/>
                </a:solidFill>
                <a:latin typeface="맑은 고딕"/>
                <a:ea typeface="맑은 고딕"/>
              </a:rPr>
              <a:t>?  현재 위치와 각 어린이집 거리에 대한 기능 구현 이슈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</TotalTime>
  <Words>498</Words>
  <Application>Microsoft Macintosh PowerPoint</Application>
  <PresentationFormat>와이드스크린</PresentationFormat>
  <Paragraphs>87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3" baseType="lpstr">
      <vt:lpstr>맑은 고딕</vt:lpstr>
      <vt:lpstr>Arial</vt:lpstr>
      <vt:lpstr>Office 테마</vt:lpstr>
      <vt:lpstr>맞춤 어린이집 추천 챗봇 시스템</vt:lpstr>
      <vt:lpstr>주제선정</vt:lpstr>
      <vt:lpstr>서비스 소개</vt:lpstr>
      <vt:lpstr>데이터 </vt:lpstr>
      <vt:lpstr>데이터</vt:lpstr>
      <vt:lpstr>표로 만들 데이터</vt:lpstr>
      <vt:lpstr>데이터 구조</vt:lpstr>
      <vt:lpstr>지역 선정이유(동탄)</vt:lpstr>
      <vt:lpstr>추천 방식 구상</vt:lpstr>
      <vt:lpstr>현재 단계와 앞으로의 계획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김지언</dc:creator>
  <cp:lastModifiedBy>김지언</cp:lastModifiedBy>
  <cp:revision>4</cp:revision>
  <dcterms:created xsi:type="dcterms:W3CDTF">2026-09-29T12:57:14Z</dcterms:created>
  <dcterms:modified xsi:type="dcterms:W3CDTF">2026-09-30T06:08:24Z</dcterms:modified>
</cp:coreProperties>
</file>